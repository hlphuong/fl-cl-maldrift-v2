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551c78e6104785" /><Relationship Type="http://schemas.openxmlformats.org/officeDocument/2006/relationships/extended-properties" Target="/docProps/app.xml" Id="R5a5eda6070744f69" /><Relationship Type="http://schemas.openxmlformats.org/officeDocument/2006/relationships/officeDocument" Target="/ppt/presentation.xml" Id="R5d47f2c4babb4773" /></Relationships>
</file>

<file path=ppt/presentation.xml><?xml version="1.0" encoding="utf-8"?>
<p:presentation xmlns:p="http://schemas.openxmlformats.org/presentationml/2006/main">
  <p:sldMasterIdLst>
    <p:sldMasterId xmlns:r="http://schemas.openxmlformats.org/officeDocument/2006/relationships" id="2147483648" r:id="Rb16ee75089514199"/>
  </p:sldMasterIdLst>
  <p:notesMasterIdLst>
    <p:notesMasterId xmlns:r="http://schemas.openxmlformats.org/officeDocument/2006/relationships" r:id="R10a5918a997043aa"/>
  </p:notesMasterIdLst>
  <p:sldIdLst>
    <p:sldId xmlns:r="http://schemas.openxmlformats.org/officeDocument/2006/relationships" id="256" r:id="Rb2b36ff14b8b4c18"/>
    <p:sldId xmlns:r="http://schemas.openxmlformats.org/officeDocument/2006/relationships" id="257" r:id="R9d4302e590364acb"/>
    <p:sldId xmlns:r="http://schemas.openxmlformats.org/officeDocument/2006/relationships" id="258" r:id="Rf8cc9565ec4a4729"/>
    <p:sldId xmlns:r="http://schemas.openxmlformats.org/officeDocument/2006/relationships" id="259" r:id="Rd4ed730b63d94a13"/>
    <p:sldId xmlns:r="http://schemas.openxmlformats.org/officeDocument/2006/relationships" id="260" r:id="Rf1c6b0c87a3b4730"/>
    <p:sldId xmlns:r="http://schemas.openxmlformats.org/officeDocument/2006/relationships" id="261" r:id="R367a7e67ac6045f0"/>
    <p:sldId xmlns:r="http://schemas.openxmlformats.org/officeDocument/2006/relationships" id="262" r:id="Rdf8a48e7e96244de"/>
    <p:sldId xmlns:r="http://schemas.openxmlformats.org/officeDocument/2006/relationships" id="263" r:id="R96d255ca831a4031"/>
    <p:sldId xmlns:r="http://schemas.openxmlformats.org/officeDocument/2006/relationships" id="264" r:id="R5497aaa2c59a4fc8"/>
    <p:sldId xmlns:r="http://schemas.openxmlformats.org/officeDocument/2006/relationships" id="265" r:id="R244ce496bc7e41e4"/>
    <p:sldId xmlns:r="http://schemas.openxmlformats.org/officeDocument/2006/relationships" id="266" r:id="Ra0990efabd8d44bf"/>
    <p:sldId xmlns:r="http://schemas.openxmlformats.org/officeDocument/2006/relationships" id="267" r:id="Rfff598b582164dab"/>
    <p:sldId xmlns:r="http://schemas.openxmlformats.org/officeDocument/2006/relationships" id="268" r:id="R8f064018c3444ee7"/>
    <p:sldId xmlns:r="http://schemas.openxmlformats.org/officeDocument/2006/relationships" id="269" r:id="R48ab877d5d07439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d788c19abf499f" /><Relationship Type="http://schemas.openxmlformats.org/officeDocument/2006/relationships/slideMaster" Target="/ppt/slideMasters/slideMaster1.xml" Id="Rb16ee75089514199" /><Relationship Type="http://schemas.openxmlformats.org/officeDocument/2006/relationships/notesMaster" Target="/ppt/notesMasters/notesMaster1.xml" Id="R10a5918a997043aa" /><Relationship Type="http://schemas.openxmlformats.org/officeDocument/2006/relationships/presProps" Target="/ppt/presProps.xml" Id="R3e6ea72b8c674335" /><Relationship Type="http://schemas.openxmlformats.org/officeDocument/2006/relationships/tableStyles" Target="/ppt/tableStyles.xml" Id="Ra4bf9161bb87447b" /><Relationship Type="http://schemas.openxmlformats.org/officeDocument/2006/relationships/slide" Target="/ppt/slides/slide1.xml" Id="Rb2b36ff14b8b4c18" /><Relationship Type="http://schemas.openxmlformats.org/officeDocument/2006/relationships/slide" Target="/ppt/slides/slide2.xml" Id="R9d4302e590364acb" /><Relationship Type="http://schemas.openxmlformats.org/officeDocument/2006/relationships/slide" Target="/ppt/slides/slide3.xml" Id="Rf8cc9565ec4a4729" /><Relationship Type="http://schemas.openxmlformats.org/officeDocument/2006/relationships/slide" Target="/ppt/slides/slide4.xml" Id="Rd4ed730b63d94a13" /><Relationship Type="http://schemas.openxmlformats.org/officeDocument/2006/relationships/slide" Target="/ppt/slides/slide5.xml" Id="Rf1c6b0c87a3b4730" /><Relationship Type="http://schemas.openxmlformats.org/officeDocument/2006/relationships/slide" Target="/ppt/slides/slide6.xml" Id="R367a7e67ac6045f0" /><Relationship Type="http://schemas.openxmlformats.org/officeDocument/2006/relationships/slide" Target="/ppt/slides/slide7.xml" Id="Rdf8a48e7e96244de" /><Relationship Type="http://schemas.openxmlformats.org/officeDocument/2006/relationships/slide" Target="/ppt/slides/slide8.xml" Id="R96d255ca831a4031" /><Relationship Type="http://schemas.openxmlformats.org/officeDocument/2006/relationships/slide" Target="/ppt/slides/slide9.xml" Id="R5497aaa2c59a4fc8" /><Relationship Type="http://schemas.openxmlformats.org/officeDocument/2006/relationships/slide" Target="/ppt/slides/slide10.xml" Id="R244ce496bc7e41e4" /><Relationship Type="http://schemas.openxmlformats.org/officeDocument/2006/relationships/slide" Target="/ppt/slides/slide11.xml" Id="Ra0990efabd8d44bf" /><Relationship Type="http://schemas.openxmlformats.org/officeDocument/2006/relationships/slide" Target="/ppt/slides/slide12.xml" Id="Rfff598b582164dab" /><Relationship Type="http://schemas.openxmlformats.org/officeDocument/2006/relationships/slide" Target="/ppt/slides/slide13.xml" Id="R8f064018c3444ee7" /><Relationship Type="http://schemas.openxmlformats.org/officeDocument/2006/relationships/slide" Target="/ppt/slides/slide14.xml" Id="R48ab877d5d0743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5e7bc6681e945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FL CL MalDrift">
      <a:dk1>
        <a:srgbClr val="17365D"/>
      </a:dk1>
      <a:lt1>
        <a:srgbClr val="FFFFFF"/>
      </a:lt1>
      <a:dk2>
        <a:srgbClr val="334155"/>
      </a:dk2>
      <a:lt2>
        <a:srgbClr val="F8FAFC"/>
      </a:lt2>
      <a:accent1>
        <a:srgbClr val="2F5597"/>
      </a:accent1>
      <a:accent2>
        <a:srgbClr val="2E7D32"/>
      </a:accent2>
      <a:accent3>
        <a:srgbClr val="B45309"/>
      </a:accent3>
      <a:accent4>
        <a:srgbClr val="5B2C83"/>
      </a:accent4>
      <a:accent5>
        <a:srgbClr val="B91C1C"/>
      </a:accent5>
      <a:accent6>
        <a:srgbClr val="64748B"/>
      </a:accent6>
      <a:hlink>
        <a:srgbClr val="2F5597"/>
      </a:hlink>
      <a:folHlink>
        <a:srgbClr val="5B2C83"/>
      </a:folHlink>
    </a:clrScheme>
    <a:fontScheme name="Office">
      <a:majorFont>
        <a:latin typeface="Calibri Light"/>
        <a:ea typeface="Calibri Light"/>
        <a:cs typeface="Calibri Light"/>
      </a:majorFont>
      <a:minorFont>
        <a:latin typeface="Calibri"/>
        <a:ea typeface="Calibri"/>
        <a:cs typeface="Calibri"/>
      </a:minorFont>
    </a:fontScheme>
    <a:fmtScheme name="FL CL MalDrif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771ea7430e45a8" /><Relationship Type="http://schemas.openxmlformats.org/officeDocument/2006/relationships/notesMaster" Target="/ppt/notesMasters/notesMaster1.xml" Id="R2409061459264f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71f45a2b89435c" /><Relationship Type="http://schemas.openxmlformats.org/officeDocument/2006/relationships/notesMaster" Target="/ppt/notesMasters/notesMaster1.xml" Id="Re8a427223eb945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4a4c1bea884d64" /><Relationship Type="http://schemas.openxmlformats.org/officeDocument/2006/relationships/notesMaster" Target="/ppt/notesMasters/notesMaster1.xml" Id="R6fd92992ea1744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f9701df3144316" /><Relationship Type="http://schemas.openxmlformats.org/officeDocument/2006/relationships/notesMaster" Target="/ppt/notesMasters/notesMaster1.xml" Id="Ra57bf5e37b4241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16ad432bf049ba" /><Relationship Type="http://schemas.openxmlformats.org/officeDocument/2006/relationships/notesMaster" Target="/ppt/notesMasters/notesMaster1.xml" Id="R50b8e8f1841143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2e67cbf98b41d9" /><Relationship Type="http://schemas.openxmlformats.org/officeDocument/2006/relationships/notesMaster" Target="/ppt/notesMasters/notesMaster1.xml" Id="R1962258243af44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e9e4b2739e4dba" /><Relationship Type="http://schemas.openxmlformats.org/officeDocument/2006/relationships/notesMaster" Target="/ppt/notesMasters/notesMaster1.xml" Id="R6a60fda3832548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be3c4ce1574892" /><Relationship Type="http://schemas.openxmlformats.org/officeDocument/2006/relationships/notesMaster" Target="/ppt/notesMasters/notesMaster1.xml" Id="R18c4caf7a99149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800a781e0f4ca2" /><Relationship Type="http://schemas.openxmlformats.org/officeDocument/2006/relationships/notesMaster" Target="/ppt/notesMasters/notesMaster1.xml" Id="Rfa552288cdbc42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cb08a27d8d476f" /><Relationship Type="http://schemas.openxmlformats.org/officeDocument/2006/relationships/notesMaster" Target="/ppt/notesMasters/notesMaster1.xml" Id="R7966e9ea51364db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fc4bdf1e4e4cac" /><Relationship Type="http://schemas.openxmlformats.org/officeDocument/2006/relationships/notesMaster" Target="/ppt/notesMasters/notesMaster1.xml" Id="R38d82d22122648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459cafb99148c4" /><Relationship Type="http://schemas.openxmlformats.org/officeDocument/2006/relationships/notesMaster" Target="/ppt/notesMasters/notesMaster1.xml" Id="R3f9f1a23be8c40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30f3cca7204c97" /><Relationship Type="http://schemas.openxmlformats.org/officeDocument/2006/relationships/notesMaster" Target="/ppt/notesMasters/notesMaster1.xml" Id="R4b8545ec7fd848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c7c1be6fe64dc7" /><Relationship Type="http://schemas.openxmlformats.org/officeDocument/2006/relationships/notesMaster" Target="/ppt/notesMasters/notesMaster1.xml" Id="Re0765a5c4ce144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60f4a54a8e4c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8bd692ea464bae" /><Relationship Type="http://schemas.openxmlformats.org/officeDocument/2006/relationships/slideLayout" Target="/ppt/slideLayouts/slideLayout1.xml" Id="R5f27e8bf9dd84d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27e8bf9dd84d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FL CL MalDrift">
      <a:dk1>
        <a:srgbClr val="17365D"/>
      </a:dk1>
      <a:lt1>
        <a:srgbClr val="FFFFFF"/>
      </a:lt1>
      <a:dk2>
        <a:srgbClr val="334155"/>
      </a:dk2>
      <a:lt2>
        <a:srgbClr val="F8FAFC"/>
      </a:lt2>
      <a:accent1>
        <a:srgbClr val="2F5597"/>
      </a:accent1>
      <a:accent2>
        <a:srgbClr val="2E7D32"/>
      </a:accent2>
      <a:accent3>
        <a:srgbClr val="B45309"/>
      </a:accent3>
      <a:accent4>
        <a:srgbClr val="5B2C83"/>
      </a:accent4>
      <a:accent5>
        <a:srgbClr val="B91C1C"/>
      </a:accent5>
      <a:accent6>
        <a:srgbClr val="64748B"/>
      </a:accent6>
      <a:hlink>
        <a:srgbClr val="2F5597"/>
      </a:hlink>
      <a:folHlink>
        <a:srgbClr val="5B2C83"/>
      </a:folHlink>
    </a:clrScheme>
    <a:fontScheme name="Office">
      <a:majorFont>
        <a:latin typeface="Calibri Light"/>
        <a:ea typeface="Calibri Light"/>
        <a:cs typeface="Calibri Light"/>
      </a:majorFont>
      <a:minorFont>
        <a:latin typeface="Calibri"/>
        <a:ea typeface="Calibri"/>
        <a:cs typeface="Calibri"/>
      </a:minorFont>
    </a:fontScheme>
    <a:fmtScheme name="FL CL MalDrif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d1d5e5e0134e6e" /><Relationship Type="http://schemas.openxmlformats.org/officeDocument/2006/relationships/notesSlide" Target="/ppt/notesSlides/notesSlide1.xml" Id="Rc64c50e17b0e4f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d41a972afb4ee6" /><Relationship Type="http://schemas.openxmlformats.org/officeDocument/2006/relationships/notesSlide" Target="/ppt/notesSlides/notesSlide2.xml" Id="Rdd5a4210a8ae48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cad929e4b74450" /><Relationship Type="http://schemas.openxmlformats.org/officeDocument/2006/relationships/notesSlide" Target="/ppt/notesSlides/notesSlide3.xml" Id="R80f7a56637644a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dd387f8e4e47ae" /><Relationship Type="http://schemas.openxmlformats.org/officeDocument/2006/relationships/notesSlide" Target="/ppt/notesSlides/notesSlide4.xml" Id="R2841a91663734d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7c4f485b284817" /><Relationship Type="http://schemas.openxmlformats.org/officeDocument/2006/relationships/image" Target="/ppt/media/image.png" Id="R322df101ce3741be" /><Relationship Type="http://schemas.openxmlformats.org/officeDocument/2006/relationships/notesSlide" Target="/ppt/notesSlides/notesSlide5.xml" Id="R134e8d7315c64d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efdd1710bb64f3c" /><Relationship Type="http://schemas.openxmlformats.org/officeDocument/2006/relationships/notesSlide" Target="/ppt/notesSlides/notesSlide6.xml" Id="Rc7d2d3e12d5b46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80143258024b2d" /><Relationship Type="http://schemas.openxmlformats.org/officeDocument/2006/relationships/notesSlide" Target="/ppt/notesSlides/notesSlide7.xml" Id="Rdcb8080230694a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62513ede6244b6f" /><Relationship Type="http://schemas.openxmlformats.org/officeDocument/2006/relationships/notesSlide" Target="/ppt/notesSlides/notesSlide8.xml" Id="R50745d0153534c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e107445410c40ec" /><Relationship Type="http://schemas.openxmlformats.org/officeDocument/2006/relationships/notesSlide" Target="/ppt/notesSlides/notesSlide9.xml" Id="Rfcefbeb3247744d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c36e0efbe0475b" /><Relationship Type="http://schemas.openxmlformats.org/officeDocument/2006/relationships/notesSlide" Target="/ppt/notesSlides/notesSlide10.xml" Id="R5d8acd3d23bc4f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14620e4060a4e41" /><Relationship Type="http://schemas.openxmlformats.org/officeDocument/2006/relationships/chart" Target="/ppt/slides/charts/chart1.xml" Id="Rc8833de13a1c4c58" /><Relationship Type="http://schemas.openxmlformats.org/officeDocument/2006/relationships/chart" Target="/ppt/slides/charts/chart2.xml" Id="R1d8db6d114324180" /><Relationship Type="http://schemas.openxmlformats.org/officeDocument/2006/relationships/notesSlide" Target="/ppt/notesSlides/notesSlide11.xml" Id="R66c63863a8464b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960f7cfc8c4b97" /><Relationship Type="http://schemas.openxmlformats.org/officeDocument/2006/relationships/notesSlide" Target="/ppt/notesSlides/notesSlide12.xml" Id="R248569476fbd4c8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2d6e5549414307" /><Relationship Type="http://schemas.openxmlformats.org/officeDocument/2006/relationships/notesSlide" Target="/ppt/notesSlides/notesSlide13.xml" Id="R8ecb9ac3967a4a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591c9beb7d54504" /><Relationship Type="http://schemas.openxmlformats.org/officeDocument/2006/relationships/notesSlide" Target="/ppt/notesSlides/notesSlide14.xml" Id="Ra2c7b9c08a864fbd" /></Relationships>
</file>

<file path=ppt/slides/charts/chart1.xml><?xml version="1.0" encoding="utf-8"?>
<c:chartSpace xmlns:c="http://schemas.openxmlformats.org/drawingml/2006/chart">
  <c:lang val="en-US"/>
  <c:roundedCorners val="0"/>
  <c:chart>
    <c:title>
      <c:tx>
        <c:rich>
          <a:bodyPr xmlns:a="http://schemas.openxmlformats.org/drawingml/2006/main"/>
          <a:lstStyle xmlns:a="http://schemas.openxmlformats.org/drawingml/2006/main"/>
          <a:p xmlns:a="http://schemas.openxmlformats.org/drawingml/2006/main">
            <a:r>
              <a:rPr sz="1350" b="1">
                <a:solidFill>
                  <a:srgbClr val="17365D"/>
                </a:solidFill>
              </a:rPr>
              <a:t>Forgetting càng thấp càng tốt</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defRPr>
          </a:pPr>
        </a:p>
      </c:txPr>
    </c:title>
    <c:autoTitleDeleted val="0"/>
    <c:plotArea>
      <c:layout/>
      <c:barChart>
        <c:barDir val="col"/>
        <c:grouping val="clustered"/>
        <c:varyColors val="0"/>
        <c:ser>
          <c:idx val="0"/>
          <c:order val="0"/>
          <c:tx>
            <c:v>Forget</c:v>
          </c:tx>
          <c:spPr>
            <a:solidFill xmlns:a="http://schemas.openxmlformats.org/drawingml/2006/main">
              <a:srgbClr val="B91C1C"/>
            </a:solidFill>
          </c:spPr>
          <c:dPt>
            <c:idx val="0"/>
            <c:spPr>
              <a:solidFill xmlns:a="http://schemas.openxmlformats.org/drawingml/2006/main">
                <a:srgbClr val="B91C1C"/>
              </a:solidFill>
            </c:spPr>
          </c:dPt>
          <c:dPt>
            <c:idx val="1"/>
            <c:spPr>
              <a:solidFill xmlns:a="http://schemas.openxmlformats.org/drawingml/2006/main">
                <a:srgbClr val="B45309"/>
              </a:solidFill>
            </c:spPr>
          </c:dPt>
          <c:dPt>
            <c:idx val="2"/>
            <c:spPr>
              <a:solidFill xmlns:a="http://schemas.openxmlformats.org/drawingml/2006/main">
                <a:srgbClr val="2E7D32"/>
              </a:solidFill>
            </c:spPr>
          </c:dPt>
          <c:dLbls>
            <c:showLegendKey val="0"/>
            <c:showVal val="0"/>
            <c:showCatName val="0"/>
            <c:showSerName val="0"/>
            <c:showPercent val="0"/>
            <c:showBubbleSize val="0"/>
            <c:showLeaderLines val="0"/>
          </c:dLbls>
          <c:cat>
            <c:strLit>
              <c:ptCount val="3"/>
              <c:pt idx="0">
                <c:v>FedAvg</c:v>
              </c:pt>
              <c:pt idx="1">
                <c:v>FL-MalDrift</c:v>
              </c:pt>
              <c:pt idx="2">
                <c:v>FL-CL</c:v>
              </c:pt>
            </c:strLit>
          </c:cat>
          <c:val>
            <c:numLit>
              <c:formatCode>0.0000</c:formatCode>
              <c:ptCount val="3"/>
              <c:pt idx="0">
                <c:v>0.0407</c:v>
              </c:pt>
              <c:pt idx="1">
                <c:v>0.0361</c:v>
              </c:pt>
              <c:pt idx="2">
                <c:v>0.0108</c:v>
              </c:pt>
            </c:numLit>
          </c:val>
        </c:ser>
        <c:dLbls>
          <c:txPr>
            <a:bodyPr xmlns:a="http://schemas.openxmlformats.org/drawingml/2006/main" anchorCtr="1"/>
            <a:lstStyle xmlns:a="http://schemas.openxmlformats.org/drawingml/2006/main"/>
            <a:p xmlns:a="http://schemas.openxmlformats.org/drawingml/2006/main">
              <a:pPr>
                <a:defRPr sz="1200">
                  <a:solidFill>
                    <a:srgbClr val="334155"/>
                  </a:solidFil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defRPr>
            </a:pPr>
          </a:p>
        </c:txPr>
        <c:crossAx val="48672768"/>
        <c:crosses val="autoZero"/>
        <c:lblAlgn val="ctr"/>
        <c:lblOffset val="100"/>
        <c:noMultiLvlLbl val="0"/>
      </c:catAx>
      <c:valAx>
        <c:axId val="48672768"/>
        <c:scaling>
          <c:orientation val="minMax"/>
          <c:max val="0.05"/>
        </c:scaling>
        <c:delete val="0"/>
        <c:axPos val="l"/>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defRPr>
            </a:pPr>
          </a:p>
        </c:txPr>
        <c:crossAx val="48650112"/>
        <c:crosses val="autoZero"/>
        <c:crossBetween val="between"/>
      </c:valAx>
    </c:plotArea>
    <c:plotVisOnly val="1"/>
  </c:chart>
</c:chartSpace>
</file>

<file path=ppt/slides/charts/chart2.xml><?xml version="1.0" encoding="utf-8"?>
<c:chartSpace xmlns:c="http://schemas.openxmlformats.org/drawingml/2006/chart">
  <c:lang val="en-US"/>
  <c:roundedCorners val="0"/>
  <c:chart>
    <c:title>
      <c:tx>
        <c:rich>
          <a:bodyPr xmlns:a="http://schemas.openxmlformats.org/drawingml/2006/main"/>
          <a:lstStyle xmlns:a="http://schemas.openxmlformats.org/drawingml/2006/main"/>
          <a:p xmlns:a="http://schemas.openxmlformats.org/drawingml/2006/main">
            <a:r>
              <a:rPr sz="1350" b="1">
                <a:solidFill>
                  <a:srgbClr val="17365D"/>
                </a:solidFill>
              </a:rPr>
              <a:t>BWT càng gần 0 hoặc dương càng tốt</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defRPr>
          </a:pPr>
        </a:p>
      </c:txPr>
    </c:title>
    <c:autoTitleDeleted val="0"/>
    <c:plotArea>
      <c:layout/>
      <c:barChart>
        <c:barDir val="col"/>
        <c:grouping val="clustered"/>
        <c:varyColors val="0"/>
        <c:ser>
          <c:idx val="0"/>
          <c:order val="0"/>
          <c:tx>
            <c:v>BWT</c:v>
          </c:tx>
          <c:spPr>
            <a:solidFill xmlns:a="http://schemas.openxmlformats.org/drawingml/2006/main">
              <a:srgbClr val="2F5597"/>
            </a:solidFill>
          </c:spPr>
          <c:invertIfNegative val="0"/>
          <c:dPt>
            <c:idx val="0"/>
            <c:spPr>
              <a:solidFill xmlns:a="http://schemas.openxmlformats.org/drawingml/2006/main">
                <a:srgbClr val="B91C1C"/>
              </a:solidFill>
            </c:spPr>
          </c:dPt>
          <c:dPt>
            <c:idx val="1"/>
            <c:spPr>
              <a:solidFill xmlns:a="http://schemas.openxmlformats.org/drawingml/2006/main">
                <a:srgbClr val="B45309"/>
              </a:solidFill>
            </c:spPr>
          </c:dPt>
          <c:dPt>
            <c:idx val="2"/>
            <c:spPr>
              <a:solidFill xmlns:a="http://schemas.openxmlformats.org/drawingml/2006/main">
                <a:srgbClr val="2E7D32"/>
              </a:solidFill>
            </c:spPr>
          </c:dPt>
          <c:dLbls>
            <c:showLegendKey val="0"/>
            <c:showVal val="0"/>
            <c:showCatName val="0"/>
            <c:showSerName val="0"/>
            <c:showPercent val="0"/>
            <c:showBubbleSize val="0"/>
            <c:showLeaderLines val="0"/>
          </c:dLbls>
          <c:cat>
            <c:strLit>
              <c:ptCount val="3"/>
              <c:pt idx="0">
                <c:v>FedAvg</c:v>
              </c:pt>
              <c:pt idx="1">
                <c:v>FL-MalDrift</c:v>
              </c:pt>
              <c:pt idx="2">
                <c:v>FL-CL</c:v>
              </c:pt>
            </c:strLit>
          </c:cat>
          <c:val>
            <c:numLit>
              <c:formatCode>0.0000</c:formatCode>
              <c:ptCount val="3"/>
              <c:pt idx="0">
                <c:v>-0.0382</c:v>
              </c:pt>
              <c:pt idx="1">
                <c:v>-0.0321</c:v>
              </c:pt>
              <c:pt idx="2">
                <c:v>-0.005</c:v>
              </c:pt>
            </c:numLit>
          </c:val>
        </c:ser>
        <c:dLbls>
          <c:txPr>
            <a:bodyPr xmlns:a="http://schemas.openxmlformats.org/drawingml/2006/main" anchorCtr="1"/>
            <a:lstStyle xmlns:a="http://schemas.openxmlformats.org/drawingml/2006/main"/>
            <a:p xmlns:a="http://schemas.openxmlformats.org/drawingml/2006/main">
              <a:pPr>
                <a:defRPr sz="1200">
                  <a:solidFill>
                    <a:srgbClr val="334155"/>
                  </a:solidFil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defRPr>
            </a:pPr>
          </a:p>
        </c:txPr>
        <c:crossAx val="48672768"/>
        <c:crosses val="autoZero"/>
        <c:lblAlgn val="ctr"/>
        <c:lblOffset val="100"/>
        <c:noMultiLvlLbl val="0"/>
      </c:catAx>
      <c:valAx>
        <c:axId val="48672768"/>
        <c:scaling>
          <c:orientation val="minMax"/>
          <c:max val="0.01"/>
          <c:min val="-0.05"/>
        </c:scaling>
        <c:delete val="0"/>
        <c:axPos val="l"/>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defRPr>
            </a:pPr>
          </a:p>
        </c:txPr>
        <c:crossAx val="48650112"/>
        <c:crosses val="autoZero"/>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A38C05-9AD3-4C48-86F2-89F0CA614863}"/>
              </a:ext>
            </a:extLst>
          </p:cNvPr>
          <p:cNvSpPr>
            <a:spLocks xmlns:a="http://schemas.openxmlformats.org/drawingml/2006/main" noGrp="1"/>
          </p:cNvSpPr>
          <p:nvPr/>
        </p:nvSpPr>
        <p:spPr>
          <a:xfrm xmlns:a="http://schemas.openxmlformats.org/drawingml/2006/main">
            <a:off x="9525000" y="-1333500"/>
            <a:ext cx="3143250" cy="3143250"/>
          </a:xfrm>
          <a:prstGeom xmlns:a="http://schemas.openxmlformats.org/drawingml/2006/main" prst="ellipse">
            <a:avLst/>
          </a:prstGeom>
          <a:solidFill xmlns:a="http://schemas.openxmlformats.org/drawingml/2006/main">
            <a:srgbClr val="D9EAF7"/>
          </a:solidFill>
          <a:ln xmlns:a="http://schemas.openxmlformats.org/drawingml/2006/main" w="0">
            <a:solidFill>
              <a:srgbClr val="D9EAF7"/>
            </a:solidFill>
            <a:prstDash val="solid"/>
          </a:ln>
        </p:spPr>
      </p:sp>
      <p:sp>
        <p:nvSpPr>
          <p:cNvPr id="2" name="">
            <a:extLst xmlns:a="http://schemas.openxmlformats.org/drawingml/2006/main">
              <a:ext uri="{FF2B5EF4-FFF2-40B4-BE49-F238E27FC236}">
                <a16:creationId xmlns:a16="http://schemas.microsoft.com/office/drawing/2014/main" id="{3C24E6DB-1E49-4FBC-9498-A2FF29BE2858}"/>
              </a:ext>
            </a:extLst>
          </p:cNvPr>
          <p:cNvSpPr>
            <a:spLocks xmlns:a="http://schemas.openxmlformats.org/drawingml/2006/main" noGrp="1"/>
          </p:cNvSpPr>
          <p:nvPr/>
        </p:nvSpPr>
        <p:spPr>
          <a:xfrm xmlns:a="http://schemas.openxmlformats.org/drawingml/2006/main">
            <a:off x="9963150" y="-895350"/>
            <a:ext cx="2000250" cy="2000250"/>
          </a:xfrm>
          <a:prstGeom xmlns:a="http://schemas.openxmlformats.org/drawingml/2006/main" prst="ellipse">
            <a:avLst/>
          </a:prstGeom>
          <a:solidFill xmlns:a="http://schemas.openxmlformats.org/drawingml/2006/main">
            <a:srgbClr val="2F5597"/>
          </a:solidFill>
          <a:ln xmlns:a="http://schemas.openxmlformats.org/drawingml/2006/main" w="0">
            <a:solidFill>
              <a:srgbClr val="2F5597"/>
            </a:solidFill>
            <a:prstDash val="solid"/>
          </a:ln>
        </p:spPr>
      </p:sp>
      <p:sp>
        <p:nvSpPr>
          <p:cNvPr id="3" name="">
            <a:extLst xmlns:a="http://schemas.openxmlformats.org/drawingml/2006/main">
              <a:ext uri="{FF2B5EF4-FFF2-40B4-BE49-F238E27FC236}">
                <a16:creationId xmlns:a16="http://schemas.microsoft.com/office/drawing/2014/main" id="{0FFF3BF1-BDAE-426C-B39A-32F16E3B9874}"/>
              </a:ext>
            </a:extLst>
          </p:cNvPr>
          <p:cNvSpPr>
            <a:spLocks xmlns:a="http://schemas.openxmlformats.org/drawingml/2006/main" noGrp="1"/>
          </p:cNvSpPr>
          <p:nvPr/>
        </p:nvSpPr>
        <p:spPr>
          <a:xfrm xmlns:a="http://schemas.openxmlformats.org/drawingml/2006/main">
            <a:off x="-1381125" y="4476750"/>
            <a:ext cx="2857500" cy="2857500"/>
          </a:xfrm>
          <a:prstGeom xmlns:a="http://schemas.openxmlformats.org/drawingml/2006/main" prst="ellipse">
            <a:avLst/>
          </a:prstGeom>
          <a:solidFill xmlns:a="http://schemas.openxmlformats.org/drawingml/2006/main">
            <a:srgbClr val="EFE7F6"/>
          </a:solidFill>
          <a:ln xmlns:a="http://schemas.openxmlformats.org/drawingml/2006/main" w="0">
            <a:solidFill>
              <a:srgbClr val="EFE7F6"/>
            </a:solidFill>
            <a:prstDash val="solid"/>
          </a:ln>
        </p:spPr>
      </p:sp>
      <p:sp>
        <p:nvSpPr>
          <p:cNvPr id="4" name="">
            <a:extLst xmlns:a="http://schemas.openxmlformats.org/drawingml/2006/main">
              <a:ext uri="{FF2B5EF4-FFF2-40B4-BE49-F238E27FC236}">
                <a16:creationId xmlns:a16="http://schemas.microsoft.com/office/drawing/2014/main" id="{E4A4AF59-C1EB-4D29-A914-EBAE0D8B4F56}"/>
              </a:ext>
            </a:extLst>
          </p:cNvPr>
          <p:cNvSpPr>
            <a:spLocks xmlns:a="http://schemas.openxmlformats.org/drawingml/2006/main" noGrp="1"/>
          </p:cNvSpPr>
          <p:nvPr/>
        </p:nvSpPr>
        <p:spPr>
          <a:xfrm xmlns:a="http://schemas.openxmlformats.org/drawingml/2006/main">
            <a:off x="666750" y="609600"/>
            <a:ext cx="695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F5597"/>
                </a:solidFill>
              </a:defRPr>
            </a:pPr>
            <a:r>
              <a:rPr sz="1350" b="1">
                <a:solidFill>
                  <a:srgbClr val="2F5597"/>
                </a:solidFill>
              </a:rPr>
              <a:t>CHỦ ĐỀ 5 - PHÁT HIỆN MÃ ĐỘC THÍCH ỨNG</a:t>
            </a:r>
          </a:p>
        </p:txBody>
      </p:sp>
      <p:sp>
        <p:nvSpPr>
          <p:cNvPr id="5" name="">
            <a:extLst xmlns:a="http://schemas.openxmlformats.org/drawingml/2006/main">
              <a:ext uri="{FF2B5EF4-FFF2-40B4-BE49-F238E27FC236}">
                <a16:creationId xmlns:a16="http://schemas.microsoft.com/office/drawing/2014/main" id="{B21F8099-95A3-45CD-95D0-D585122BFB72}"/>
              </a:ext>
            </a:extLst>
          </p:cNvPr>
          <p:cNvSpPr>
            <a:spLocks xmlns:a="http://schemas.openxmlformats.org/drawingml/2006/main" noGrp="1"/>
          </p:cNvSpPr>
          <p:nvPr/>
        </p:nvSpPr>
        <p:spPr>
          <a:xfrm xmlns:a="http://schemas.openxmlformats.org/drawingml/2006/main">
            <a:off x="666750" y="1428750"/>
            <a:ext cx="8286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17365D"/>
                </a:solidFill>
              </a:defRPr>
            </a:pPr>
            <a:r>
              <a:rPr sz="4050" b="1">
                <a:solidFill>
                  <a:srgbClr val="17365D"/>
                </a:solidFill>
              </a:rPr>
              <a:t>Báo cáo kết quả FL-CL-MalDrift</a:t>
            </a:r>
          </a:p>
        </p:txBody>
      </p:sp>
      <p:sp>
        <p:nvSpPr>
          <p:cNvPr id="6" name="">
            <a:extLst xmlns:a="http://schemas.openxmlformats.org/drawingml/2006/main">
              <a:ext uri="{FF2B5EF4-FFF2-40B4-BE49-F238E27FC236}">
                <a16:creationId xmlns:a16="http://schemas.microsoft.com/office/drawing/2014/main" id="{278CAF13-F4C4-46A0-80B6-61931B325DBF}"/>
              </a:ext>
            </a:extLst>
          </p:cNvPr>
          <p:cNvSpPr>
            <a:spLocks xmlns:a="http://schemas.openxmlformats.org/drawingml/2006/main" noGrp="1"/>
          </p:cNvSpPr>
          <p:nvPr/>
        </p:nvSpPr>
        <p:spPr>
          <a:xfrm xmlns:a="http://schemas.openxmlformats.org/drawingml/2006/main">
            <a:off x="666750" y="3209925"/>
            <a:ext cx="6858000" cy="47625"/>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7" name="">
            <a:extLst xmlns:a="http://schemas.openxmlformats.org/drawingml/2006/main">
              <a:ext uri="{FF2B5EF4-FFF2-40B4-BE49-F238E27FC236}">
                <a16:creationId xmlns:a16="http://schemas.microsoft.com/office/drawing/2014/main" id="{64007CF1-A879-479F-9BD9-3D49ADF423A0}"/>
              </a:ext>
            </a:extLst>
          </p:cNvPr>
          <p:cNvSpPr>
            <a:spLocks xmlns:a="http://schemas.openxmlformats.org/drawingml/2006/main" noGrp="1"/>
          </p:cNvSpPr>
          <p:nvPr/>
        </p:nvSpPr>
        <p:spPr>
          <a:xfrm xmlns:a="http://schemas.openxmlformats.org/drawingml/2006/main">
            <a:off x="666750" y="3543300"/>
            <a:ext cx="7810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34155"/>
                </a:solidFill>
              </a:defRPr>
            </a:pPr>
            <a:r>
              <a:rPr sz="1800" b="0">
                <a:solidFill>
                  <a:srgbClr val="334155"/>
                </a:solidFill>
              </a:rPr>
              <a:t>Federated Continual Learning cho phát hiện mã độc Android thích nghi dưới concept drift</a:t>
            </a:r>
          </a:p>
        </p:txBody>
      </p:sp>
      <p:sp>
        <p:nvSpPr>
          <p:cNvPr id="8" name="">
            <a:extLst xmlns:a="http://schemas.openxmlformats.org/drawingml/2006/main">
              <a:ext uri="{FF2B5EF4-FFF2-40B4-BE49-F238E27FC236}">
                <a16:creationId xmlns:a16="http://schemas.microsoft.com/office/drawing/2014/main" id="{74AAF8A0-9920-4BE2-8AA1-7D67A77729D3}"/>
              </a:ext>
            </a:extLst>
          </p:cNvPr>
          <p:cNvSpPr>
            <a:spLocks xmlns:a="http://schemas.openxmlformats.org/drawingml/2006/main" noGrp="1"/>
          </p:cNvSpPr>
          <p:nvPr/>
        </p:nvSpPr>
        <p:spPr>
          <a:xfrm xmlns:a="http://schemas.openxmlformats.org/drawingml/2006/main">
            <a:off x="666750" y="4953000"/>
            <a:ext cx="1809750" cy="552450"/>
          </a:xfrm>
          <a:prstGeom xmlns:a="http://schemas.openxmlformats.org/drawingml/2006/main" prst="roundRect">
            <a:avLst>
              <a:gd name="adj" fmla="val 20690"/>
            </a:avLst>
          </a:prstGeom>
          <a:solidFill xmlns:a="http://schemas.openxmlformats.org/drawingml/2006/main">
            <a:srgbClr val="D9EAF7"/>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090BF0C9-05E0-48BA-AADB-22DA4B721595}"/>
              </a:ext>
            </a:extLst>
          </p:cNvPr>
          <p:cNvSpPr>
            <a:spLocks xmlns:a="http://schemas.openxmlformats.org/drawingml/2006/main" noGrp="1"/>
          </p:cNvSpPr>
          <p:nvPr/>
        </p:nvSpPr>
        <p:spPr>
          <a:xfrm xmlns:a="http://schemas.openxmlformats.org/drawingml/2006/main">
            <a:off x="819150" y="509587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7365D"/>
                </a:solidFill>
              </a:defRPr>
            </a:pPr>
            <a:r>
              <a:rPr sz="1500" b="1">
                <a:solidFill>
                  <a:srgbClr val="17365D"/>
                </a:solidFill>
              </a:rPr>
              <a:t>FedAvg</a:t>
            </a:r>
          </a:p>
        </p:txBody>
      </p:sp>
      <p:sp>
        <p:nvSpPr>
          <p:cNvPr id="10" name="">
            <a:extLst xmlns:a="http://schemas.openxmlformats.org/drawingml/2006/main">
              <a:ext uri="{FF2B5EF4-FFF2-40B4-BE49-F238E27FC236}">
                <a16:creationId xmlns:a16="http://schemas.microsoft.com/office/drawing/2014/main" id="{F0A4947E-EDD0-4CCB-9320-C0A1ADA78897}"/>
              </a:ext>
            </a:extLst>
          </p:cNvPr>
          <p:cNvSpPr>
            <a:spLocks xmlns:a="http://schemas.openxmlformats.org/drawingml/2006/main" noGrp="1"/>
          </p:cNvSpPr>
          <p:nvPr/>
        </p:nvSpPr>
        <p:spPr>
          <a:xfrm xmlns:a="http://schemas.openxmlformats.org/drawingml/2006/main">
            <a:off x="2809875" y="4953000"/>
            <a:ext cx="1809750" cy="552450"/>
          </a:xfrm>
          <a:prstGeom xmlns:a="http://schemas.openxmlformats.org/drawingml/2006/main" prst="roundRect">
            <a:avLst>
              <a:gd name="adj" fmla="val 20690"/>
            </a:avLst>
          </a:prstGeom>
          <a:solidFill xmlns:a="http://schemas.openxmlformats.org/drawingml/2006/main">
            <a:srgbClr val="E7F4E8"/>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5E7F8E27-078A-4000-9582-ED0B7DABE5F8}"/>
              </a:ext>
            </a:extLst>
          </p:cNvPr>
          <p:cNvSpPr>
            <a:spLocks xmlns:a="http://schemas.openxmlformats.org/drawingml/2006/main" noGrp="1"/>
          </p:cNvSpPr>
          <p:nvPr/>
        </p:nvSpPr>
        <p:spPr>
          <a:xfrm xmlns:a="http://schemas.openxmlformats.org/drawingml/2006/main">
            <a:off x="2962275" y="509587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7365D"/>
                </a:solidFill>
              </a:defRPr>
            </a:pPr>
            <a:r>
              <a:rPr sz="1500" b="1">
                <a:solidFill>
                  <a:srgbClr val="17365D"/>
                </a:solidFill>
              </a:rPr>
              <a:t>FL-MalDrift</a:t>
            </a:r>
          </a:p>
        </p:txBody>
      </p:sp>
      <p:sp>
        <p:nvSpPr>
          <p:cNvPr id="12" name="">
            <a:extLst xmlns:a="http://schemas.openxmlformats.org/drawingml/2006/main">
              <a:ext uri="{FF2B5EF4-FFF2-40B4-BE49-F238E27FC236}">
                <a16:creationId xmlns:a16="http://schemas.microsoft.com/office/drawing/2014/main" id="{8DB1A45D-65C7-4904-A083-5C3C4D936129}"/>
              </a:ext>
            </a:extLst>
          </p:cNvPr>
          <p:cNvSpPr>
            <a:spLocks xmlns:a="http://schemas.openxmlformats.org/drawingml/2006/main" noGrp="1"/>
          </p:cNvSpPr>
          <p:nvPr/>
        </p:nvSpPr>
        <p:spPr>
          <a:xfrm xmlns:a="http://schemas.openxmlformats.org/drawingml/2006/main">
            <a:off x="4953000" y="4953000"/>
            <a:ext cx="1809750" cy="552450"/>
          </a:xfrm>
          <a:prstGeom xmlns:a="http://schemas.openxmlformats.org/drawingml/2006/main" prst="roundRect">
            <a:avLst>
              <a:gd name="adj" fmla="val 20690"/>
            </a:avLst>
          </a:prstGeom>
          <a:solidFill xmlns:a="http://schemas.openxmlformats.org/drawingml/2006/main">
            <a:srgbClr val="FFF3D7"/>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87BECC08-B6EE-4906-B8A4-9F653D78EA5C}"/>
              </a:ext>
            </a:extLst>
          </p:cNvPr>
          <p:cNvSpPr>
            <a:spLocks xmlns:a="http://schemas.openxmlformats.org/drawingml/2006/main" noGrp="1"/>
          </p:cNvSpPr>
          <p:nvPr/>
        </p:nvSpPr>
        <p:spPr>
          <a:xfrm xmlns:a="http://schemas.openxmlformats.org/drawingml/2006/main">
            <a:off x="5105400" y="509587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7365D"/>
                </a:solidFill>
              </a:defRPr>
            </a:pPr>
            <a:r>
              <a:rPr sz="1500" b="1">
                <a:solidFill>
                  <a:srgbClr val="17365D"/>
                </a:solidFill>
              </a:rPr>
              <a:t>FL-CL-MalDrift</a:t>
            </a:r>
          </a:p>
        </p:txBody>
      </p:sp>
      <p:sp>
        <p:nvSpPr>
          <p:cNvPr id="14" name="">
            <a:extLst xmlns:a="http://schemas.openxmlformats.org/drawingml/2006/main">
              <a:ext uri="{FF2B5EF4-FFF2-40B4-BE49-F238E27FC236}">
                <a16:creationId xmlns:a16="http://schemas.microsoft.com/office/drawing/2014/main" id="{0786B046-423A-425E-A4DC-15209BBCAC32}"/>
              </a:ext>
            </a:extLst>
          </p:cNvPr>
          <p:cNvSpPr>
            <a:spLocks xmlns:a="http://schemas.openxmlformats.org/drawingml/2006/main" noGrp="1"/>
          </p:cNvSpPr>
          <p:nvPr/>
        </p:nvSpPr>
        <p:spPr>
          <a:xfrm xmlns:a="http://schemas.openxmlformats.org/drawingml/2006/main">
            <a:off x="7096125" y="4953000"/>
            <a:ext cx="1809750" cy="552450"/>
          </a:xfrm>
          <a:prstGeom xmlns:a="http://schemas.openxmlformats.org/drawingml/2006/main" prst="roundRect">
            <a:avLst>
              <a:gd name="adj" fmla="val 20690"/>
            </a:avLst>
          </a:prstGeom>
          <a:solidFill xmlns:a="http://schemas.openxmlformats.org/drawingml/2006/main">
            <a:srgbClr val="EFE7F6"/>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42E8149E-2EB5-46A9-A56B-95CA8681445F}"/>
              </a:ext>
            </a:extLst>
          </p:cNvPr>
          <p:cNvSpPr>
            <a:spLocks xmlns:a="http://schemas.openxmlformats.org/drawingml/2006/main" noGrp="1"/>
          </p:cNvSpPr>
          <p:nvPr/>
        </p:nvSpPr>
        <p:spPr>
          <a:xfrm xmlns:a="http://schemas.openxmlformats.org/drawingml/2006/main">
            <a:off x="7248525" y="509587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7365D"/>
                </a:solidFill>
              </a:defRPr>
            </a:pPr>
            <a:r>
              <a:rPr sz="1500" b="1">
                <a:solidFill>
                  <a:srgbClr val="17365D"/>
                </a:solidFill>
              </a:rPr>
              <a:t>K-Fold = 5</a:t>
            </a:r>
          </a:p>
        </p:txBody>
      </p:sp>
      <p:sp>
        <p:nvSpPr>
          <p:cNvPr id="16" name="">
            <a:extLst xmlns:a="http://schemas.openxmlformats.org/drawingml/2006/main">
              <a:ext uri="{FF2B5EF4-FFF2-40B4-BE49-F238E27FC236}">
                <a16:creationId xmlns:a16="http://schemas.microsoft.com/office/drawing/2014/main" id="{EB205FB2-AB4D-4CAD-93B2-FADDE92D4D88}"/>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17" name="">
            <a:extLst xmlns:a="http://schemas.openxmlformats.org/drawingml/2006/main">
              <a:ext uri="{FF2B5EF4-FFF2-40B4-BE49-F238E27FC236}">
                <a16:creationId xmlns:a16="http://schemas.microsoft.com/office/drawing/2014/main" id="{1A5C1D35-4023-46E1-B0A0-31DAA4CA4C77}"/>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1/14</a:t>
            </a:r>
          </a:p>
        </p:txBody>
      </p:sp>
    </p:spTree>
    <p:extLst>
      <p:ext uri="{BB962C8B-B14F-4D97-AF65-F5344CB8AC3E}">
        <p14:creationId xmlns:p14="http://schemas.microsoft.com/office/powerpoint/2010/main" val="1146926904"/>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95DF7C-CF31-4E1B-A519-0C9B738A42A6}"/>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310D6013-32C2-413A-9E5A-41894B79B8A7}"/>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Từ hướng dự định đến kết quả thực nghiệm</a:t>
            </a:r>
          </a:p>
        </p:txBody>
      </p:sp>
      <p:sp>
        <p:nvSpPr>
          <p:cNvPr id="3" name="">
            <a:extLst xmlns:a="http://schemas.openxmlformats.org/drawingml/2006/main">
              <a:ext uri="{FF2B5EF4-FFF2-40B4-BE49-F238E27FC236}">
                <a16:creationId xmlns:a16="http://schemas.microsoft.com/office/drawing/2014/main" id="{81194383-142A-43B6-860C-8F391FAF41FD}"/>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28272EFF-52AB-4506-8262-58447629C5A3}"/>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3668B76A-B6F2-4374-8340-0A7E2967F569}"/>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2/14</a:t>
            </a:r>
          </a:p>
        </p:txBody>
      </p:sp>
      <p:sp>
        <p:nvSpPr>
          <p:cNvPr id="6" name="">
            <a:extLst xmlns:a="http://schemas.openxmlformats.org/drawingml/2006/main">
              <a:ext uri="{FF2B5EF4-FFF2-40B4-BE49-F238E27FC236}">
                <a16:creationId xmlns:a16="http://schemas.microsoft.com/office/drawing/2014/main" id="{CB39F267-F524-4003-A555-BACD16BE2733}"/>
              </a:ext>
            </a:extLst>
          </p:cNvPr>
          <p:cNvSpPr>
            <a:spLocks xmlns:a="http://schemas.openxmlformats.org/drawingml/2006/main" noGrp="1"/>
          </p:cNvSpPr>
          <p:nvPr/>
        </p:nvSpPr>
        <p:spPr>
          <a:xfrm xmlns:a="http://schemas.openxmlformats.org/drawingml/2006/main">
            <a:off x="685800" y="1476375"/>
            <a:ext cx="495300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9888DD1-F4EF-49DF-816E-F38F732AAF1F}"/>
              </a:ext>
            </a:extLst>
          </p:cNvPr>
          <p:cNvSpPr>
            <a:spLocks xmlns:a="http://schemas.openxmlformats.org/drawingml/2006/main" noGrp="1"/>
          </p:cNvSpPr>
          <p:nvPr/>
        </p:nvSpPr>
        <p:spPr>
          <a:xfrm xmlns:a="http://schemas.openxmlformats.org/drawingml/2006/main">
            <a:off x="895350" y="1647825"/>
            <a:ext cx="453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Hướng định làm ban đầu</a:t>
            </a:r>
          </a:p>
        </p:txBody>
      </p:sp>
      <p:sp>
        <p:nvSpPr>
          <p:cNvPr id="8" name="">
            <a:extLst xmlns:a="http://schemas.openxmlformats.org/drawingml/2006/main">
              <a:ext uri="{FF2B5EF4-FFF2-40B4-BE49-F238E27FC236}">
                <a16:creationId xmlns:a16="http://schemas.microsoft.com/office/drawing/2014/main" id="{729F051C-43B8-4CFC-BC84-9073734EFC31}"/>
              </a:ext>
            </a:extLst>
          </p:cNvPr>
          <p:cNvSpPr>
            <a:spLocks xmlns:a="http://schemas.openxmlformats.org/drawingml/2006/main" noGrp="1"/>
          </p:cNvSpPr>
          <p:nvPr/>
        </p:nvSpPr>
        <p:spPr>
          <a:xfrm xmlns:a="http://schemas.openxmlformats.org/drawingml/2006/main">
            <a:off x="895350" y="2028825"/>
            <a:ext cx="45339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 Dựa trên FL-MalDrift gốc để xử lý concept drift trong federated learning.</a:t>
            </a:r>
          </a:p>
          <a:p xmlns:a="http://schemas.openxmlformats.org/drawingml/2006/main">
            <a:pPr algn="l">
              <a:defRPr sz="1350" b="0">
                <a:solidFill>
                  <a:srgbClr val="334155"/>
                </a:solidFill>
              </a:defRPr>
            </a:pPr>
            <a:r>
              <a:rPr sz="1350" b="0">
                <a:solidFill>
                  <a:srgbClr val="334155"/>
                </a:solidFill>
              </a:rPr>
              <a:t>- Bổ sung cơ chế chống quên khi mô hình học tuần tự qua nhiều task.</a:t>
            </a:r>
          </a:p>
          <a:p xmlns:a="http://schemas.openxmlformats.org/drawingml/2006/main">
            <a:pPr algn="l">
              <a:defRPr sz="1350" b="0">
                <a:solidFill>
                  <a:srgbClr val="334155"/>
                </a:solidFill>
              </a:defRPr>
            </a:pPr>
            <a:r>
              <a:rPr sz="1350" b="0">
                <a:solidFill>
                  <a:srgbClr val="334155"/>
                </a:solidFill>
              </a:rPr>
              <a:t>- Thiết kế DRC để tránh client drift cao bị loại lặp lại.</a:t>
            </a:r>
          </a:p>
        </p:txBody>
      </p:sp>
      <p:sp>
        <p:nvSpPr>
          <p:cNvPr id="9" name="">
            <a:extLst xmlns:a="http://schemas.openxmlformats.org/drawingml/2006/main">
              <a:ext uri="{FF2B5EF4-FFF2-40B4-BE49-F238E27FC236}">
                <a16:creationId xmlns:a16="http://schemas.microsoft.com/office/drawing/2014/main" id="{B07DF243-3FBF-4967-B91B-22A035BD026D}"/>
              </a:ext>
            </a:extLst>
          </p:cNvPr>
          <p:cNvSpPr>
            <a:spLocks xmlns:a="http://schemas.openxmlformats.org/drawingml/2006/main" noGrp="1"/>
          </p:cNvSpPr>
          <p:nvPr/>
        </p:nvSpPr>
        <p:spPr>
          <a:xfrm xmlns:a="http://schemas.openxmlformats.org/drawingml/2006/main">
            <a:off x="6553200" y="1476375"/>
            <a:ext cx="4953000" cy="3143250"/>
          </a:xfrm>
          <a:prstGeom xmlns:a="http://schemas.openxmlformats.org/drawingml/2006/main" prst="roundRect">
            <a:avLst>
              <a:gd name="adj" fmla="val 3636"/>
            </a:avLst>
          </a:prstGeom>
          <a:solidFill xmlns:a="http://schemas.openxmlformats.org/drawingml/2006/main">
            <a:srgbClr val="E7F4E8"/>
          </a:solidFill>
          <a:ln xmlns:a="http://schemas.openxmlformats.org/drawingml/2006/main" w="9525">
            <a:solidFill>
              <a:srgbClr val="2E7D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49B8544-FD55-4DE9-8CB7-D82454139FF3}"/>
              </a:ext>
            </a:extLst>
          </p:cNvPr>
          <p:cNvSpPr>
            <a:spLocks xmlns:a="http://schemas.openxmlformats.org/drawingml/2006/main" noGrp="1"/>
          </p:cNvSpPr>
          <p:nvPr/>
        </p:nvSpPr>
        <p:spPr>
          <a:xfrm xmlns:a="http://schemas.openxmlformats.org/drawingml/2006/main">
            <a:off x="6762750" y="1647825"/>
            <a:ext cx="453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Kết quả đã hoàn thành</a:t>
            </a:r>
          </a:p>
        </p:txBody>
      </p:sp>
      <p:sp>
        <p:nvSpPr>
          <p:cNvPr id="11" name="">
            <a:extLst xmlns:a="http://schemas.openxmlformats.org/drawingml/2006/main">
              <a:ext uri="{FF2B5EF4-FFF2-40B4-BE49-F238E27FC236}">
                <a16:creationId xmlns:a16="http://schemas.microsoft.com/office/drawing/2014/main" id="{01D6FF50-76C0-477E-8B70-FC9DF3EFF84E}"/>
              </a:ext>
            </a:extLst>
          </p:cNvPr>
          <p:cNvSpPr>
            <a:spLocks xmlns:a="http://schemas.openxmlformats.org/drawingml/2006/main" noGrp="1"/>
          </p:cNvSpPr>
          <p:nvPr/>
        </p:nvSpPr>
        <p:spPr>
          <a:xfrm xmlns:a="http://schemas.openxmlformats.org/drawingml/2006/main">
            <a:off x="6762750" y="2028825"/>
            <a:ext cx="45339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 Code chạy được 3 phương pháp: FedAvg, FL-MalDrift, FL-CL-MalDrift.</a:t>
            </a:r>
          </a:p>
          <a:p xmlns:a="http://schemas.openxmlformats.org/drawingml/2006/main">
            <a:pPr algn="l">
              <a:defRPr sz="1350" b="0">
                <a:solidFill>
                  <a:srgbClr val="334155"/>
                </a:solidFill>
              </a:defRPr>
            </a:pPr>
            <a:r>
              <a:rPr sz="1350" b="0">
                <a:solidFill>
                  <a:srgbClr val="334155"/>
                </a:solidFill>
              </a:rPr>
              <a:t>- Có chia dữ liệu theo 1:1, 2:1, K-Fold và category-dominant tasks.</a:t>
            </a:r>
          </a:p>
          <a:p xmlns:a="http://schemas.openxmlformats.org/drawingml/2006/main">
            <a:pPr algn="l">
              <a:defRPr sz="1350" b="0">
                <a:solidFill>
                  <a:srgbClr val="334155"/>
                </a:solidFill>
              </a:defRPr>
            </a:pPr>
            <a:r>
              <a:rPr sz="1350" b="0">
                <a:solidFill>
                  <a:srgbClr val="334155"/>
                </a:solidFill>
              </a:rPr>
              <a:t>- Xuất được bảng so sánh ACC, Precision, F1, Recall, Forget, BWT, FWT.</a:t>
            </a:r>
          </a:p>
        </p:txBody>
      </p:sp>
      <p:sp>
        <p:nvSpPr>
          <p:cNvPr id="12" name="">
            <a:extLst xmlns:a="http://schemas.openxmlformats.org/drawingml/2006/main">
              <a:ext uri="{FF2B5EF4-FFF2-40B4-BE49-F238E27FC236}">
                <a16:creationId xmlns:a16="http://schemas.microsoft.com/office/drawing/2014/main" id="{2A9265DF-6136-4241-A1D5-DB8C77366B99}"/>
              </a:ext>
            </a:extLst>
          </p:cNvPr>
          <p:cNvSpPr>
            <a:spLocks xmlns:a="http://schemas.openxmlformats.org/drawingml/2006/main" noGrp="1"/>
          </p:cNvSpPr>
          <p:nvPr/>
        </p:nvSpPr>
        <p:spPr>
          <a:xfrm xmlns:a="http://schemas.openxmlformats.org/drawingml/2006/main">
            <a:off x="1619250" y="4762500"/>
            <a:ext cx="2857500" cy="1314450"/>
          </a:xfrm>
          <a:prstGeom xmlns:a="http://schemas.openxmlformats.org/drawingml/2006/main" prst="roundRect">
            <a:avLst>
              <a:gd name="adj" fmla="val 8696"/>
            </a:avLst>
          </a:prstGeom>
          <a:solidFill xmlns:a="http://schemas.openxmlformats.org/drawingml/2006/main">
            <a:srgbClr val="E7F4E8"/>
          </a:solidFill>
          <a:ln xmlns:a="http://schemas.openxmlformats.org/drawingml/2006/main" w="9525">
            <a:solidFill>
              <a:srgbClr val="2E7D32"/>
            </a:solidFill>
            <a:prstDash val="solid"/>
          </a:ln>
        </p:spPr>
      </p:sp>
      <p:sp>
        <p:nvSpPr>
          <p:cNvPr id="13" name="">
            <a:extLst xmlns:a="http://schemas.openxmlformats.org/drawingml/2006/main">
              <a:ext uri="{FF2B5EF4-FFF2-40B4-BE49-F238E27FC236}">
                <a16:creationId xmlns:a16="http://schemas.microsoft.com/office/drawing/2014/main" id="{15AB17C5-1C88-4EB4-9E29-757BD8068383}"/>
              </a:ext>
            </a:extLst>
          </p:cNvPr>
          <p:cNvSpPr>
            <a:spLocks xmlns:a="http://schemas.openxmlformats.org/drawingml/2006/main" noGrp="1"/>
          </p:cNvSpPr>
          <p:nvPr/>
        </p:nvSpPr>
        <p:spPr>
          <a:xfrm xmlns:a="http://schemas.openxmlformats.org/drawingml/2006/main">
            <a:off x="1790700" y="48958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E7D32"/>
                </a:solidFill>
              </a:defRPr>
            </a:pPr>
            <a:r>
              <a:rPr sz="1350" b="1">
                <a:solidFill>
                  <a:srgbClr val="2E7D32"/>
                </a:solidFill>
              </a:rPr>
              <a:t>Kết quả chính</a:t>
            </a:r>
          </a:p>
        </p:txBody>
      </p:sp>
      <p:sp>
        <p:nvSpPr>
          <p:cNvPr id="14" name="">
            <a:extLst xmlns:a="http://schemas.openxmlformats.org/drawingml/2006/main">
              <a:ext uri="{FF2B5EF4-FFF2-40B4-BE49-F238E27FC236}">
                <a16:creationId xmlns:a16="http://schemas.microsoft.com/office/drawing/2014/main" id="{47D5068D-F03C-4999-86C3-71515485DA2B}"/>
              </a:ext>
            </a:extLst>
          </p:cNvPr>
          <p:cNvSpPr>
            <a:spLocks xmlns:a="http://schemas.openxmlformats.org/drawingml/2006/main" noGrp="1"/>
          </p:cNvSpPr>
          <p:nvPr/>
        </p:nvSpPr>
        <p:spPr>
          <a:xfrm xmlns:a="http://schemas.openxmlformats.org/drawingml/2006/main">
            <a:off x="1790700" y="5200650"/>
            <a:ext cx="2514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365D"/>
                </a:solidFill>
              </a:defRPr>
            </a:pPr>
            <a:r>
              <a:rPr sz="2550" b="1">
                <a:solidFill>
                  <a:srgbClr val="17365D"/>
                </a:solidFill>
              </a:rPr>
              <a:t>FL-CL</a:t>
            </a:r>
          </a:p>
        </p:txBody>
      </p:sp>
      <p:sp>
        <p:nvSpPr>
          <p:cNvPr id="15" name="">
            <a:extLst xmlns:a="http://schemas.openxmlformats.org/drawingml/2006/main">
              <a:ext uri="{FF2B5EF4-FFF2-40B4-BE49-F238E27FC236}">
                <a16:creationId xmlns:a16="http://schemas.microsoft.com/office/drawing/2014/main" id="{CB3B6456-7EF5-4587-B962-730399CE9FE6}"/>
              </a:ext>
            </a:extLst>
          </p:cNvPr>
          <p:cNvSpPr>
            <a:spLocks xmlns:a="http://schemas.openxmlformats.org/drawingml/2006/main" noGrp="1"/>
          </p:cNvSpPr>
          <p:nvPr/>
        </p:nvSpPr>
        <p:spPr>
          <a:xfrm xmlns:a="http://schemas.openxmlformats.org/drawingml/2006/main">
            <a:off x="1790700" y="567690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334155"/>
                </a:solidFill>
              </a:defRPr>
            </a:pPr>
            <a:r>
              <a:rPr sz="1200" b="0">
                <a:solidFill>
                  <a:srgbClr val="334155"/>
                </a:solidFill>
              </a:rPr>
              <a:t>cao hơn ACC, F1, Recall; Forget thấp hơn</a:t>
            </a:r>
          </a:p>
        </p:txBody>
      </p:sp>
      <p:sp>
        <p:nvSpPr>
          <p:cNvPr id="16" name="">
            <a:extLst xmlns:a="http://schemas.openxmlformats.org/drawingml/2006/main">
              <a:ext uri="{FF2B5EF4-FFF2-40B4-BE49-F238E27FC236}">
                <a16:creationId xmlns:a16="http://schemas.microsoft.com/office/drawing/2014/main" id="{54DD59F7-F792-4EE2-A3E8-18F789437B17}"/>
              </a:ext>
            </a:extLst>
          </p:cNvPr>
          <p:cNvSpPr>
            <a:spLocks xmlns:a="http://schemas.openxmlformats.org/drawingml/2006/main" noGrp="1"/>
          </p:cNvSpPr>
          <p:nvPr/>
        </p:nvSpPr>
        <p:spPr>
          <a:xfrm xmlns:a="http://schemas.openxmlformats.org/drawingml/2006/main">
            <a:off x="4667250" y="4762500"/>
            <a:ext cx="2857500" cy="1314450"/>
          </a:xfrm>
          <a:prstGeom xmlns:a="http://schemas.openxmlformats.org/drawingml/2006/main" prst="roundRect">
            <a:avLst>
              <a:gd name="adj" fmla="val 8696"/>
            </a:avLst>
          </a:prstGeom>
          <a:solidFill xmlns:a="http://schemas.openxmlformats.org/drawingml/2006/main">
            <a:srgbClr val="D9EAF7"/>
          </a:solidFill>
          <a:ln xmlns:a="http://schemas.openxmlformats.org/drawingml/2006/main" w="9525">
            <a:solidFill>
              <a:srgbClr val="2F5597"/>
            </a:solidFill>
            <a:prstDash val="solid"/>
          </a:ln>
        </p:spPr>
      </p:sp>
      <p:sp>
        <p:nvSpPr>
          <p:cNvPr id="17" name="">
            <a:extLst xmlns:a="http://schemas.openxmlformats.org/drawingml/2006/main">
              <a:ext uri="{FF2B5EF4-FFF2-40B4-BE49-F238E27FC236}">
                <a16:creationId xmlns:a16="http://schemas.microsoft.com/office/drawing/2014/main" id="{E6D866EC-5254-42D8-8D52-B4100BBB2E56}"/>
              </a:ext>
            </a:extLst>
          </p:cNvPr>
          <p:cNvSpPr>
            <a:spLocks xmlns:a="http://schemas.openxmlformats.org/drawingml/2006/main" noGrp="1"/>
          </p:cNvSpPr>
          <p:nvPr/>
        </p:nvSpPr>
        <p:spPr>
          <a:xfrm xmlns:a="http://schemas.openxmlformats.org/drawingml/2006/main">
            <a:off x="4838700" y="48958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F5597"/>
                </a:solidFill>
              </a:defRPr>
            </a:pPr>
            <a:r>
              <a:rPr sz="1350" b="1">
                <a:solidFill>
                  <a:srgbClr val="2F5597"/>
                </a:solidFill>
              </a:rPr>
              <a:t>Thực nghiệm</a:t>
            </a:r>
          </a:p>
        </p:txBody>
      </p:sp>
      <p:sp>
        <p:nvSpPr>
          <p:cNvPr id="18" name="">
            <a:extLst xmlns:a="http://schemas.openxmlformats.org/drawingml/2006/main">
              <a:ext uri="{FF2B5EF4-FFF2-40B4-BE49-F238E27FC236}">
                <a16:creationId xmlns:a16="http://schemas.microsoft.com/office/drawing/2014/main" id="{D9839930-21D0-436B-8A78-75A6AEE1E5BB}"/>
              </a:ext>
            </a:extLst>
          </p:cNvPr>
          <p:cNvSpPr>
            <a:spLocks xmlns:a="http://schemas.openxmlformats.org/drawingml/2006/main" noGrp="1"/>
          </p:cNvSpPr>
          <p:nvPr/>
        </p:nvSpPr>
        <p:spPr>
          <a:xfrm xmlns:a="http://schemas.openxmlformats.org/drawingml/2006/main">
            <a:off x="4838700" y="5200650"/>
            <a:ext cx="2514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365D"/>
                </a:solidFill>
              </a:defRPr>
            </a:pPr>
            <a:r>
              <a:rPr sz="2550" b="1">
                <a:solidFill>
                  <a:srgbClr val="17365D"/>
                </a:solidFill>
              </a:rPr>
              <a:t>5 Fold</a:t>
            </a:r>
          </a:p>
        </p:txBody>
      </p:sp>
      <p:sp>
        <p:nvSpPr>
          <p:cNvPr id="19" name="">
            <a:extLst xmlns:a="http://schemas.openxmlformats.org/drawingml/2006/main">
              <a:ext uri="{FF2B5EF4-FFF2-40B4-BE49-F238E27FC236}">
                <a16:creationId xmlns:a16="http://schemas.microsoft.com/office/drawing/2014/main" id="{40CABABC-BF5B-4C04-B3CB-3B85D164268B}"/>
              </a:ext>
            </a:extLst>
          </p:cNvPr>
          <p:cNvSpPr>
            <a:spLocks xmlns:a="http://schemas.openxmlformats.org/drawingml/2006/main" noGrp="1"/>
          </p:cNvSpPr>
          <p:nvPr/>
        </p:nvSpPr>
        <p:spPr>
          <a:xfrm xmlns:a="http://schemas.openxmlformats.org/drawingml/2006/main">
            <a:off x="4838700" y="567690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334155"/>
                </a:solidFill>
              </a:defRPr>
            </a:pPr>
            <a:r>
              <a:rPr sz="1200" b="0">
                <a:solidFill>
                  <a:srgbClr val="334155"/>
                </a:solidFill>
              </a:rPr>
              <a:t>mỗi fold là một lần chạy độc lập</a:t>
            </a:r>
          </a:p>
        </p:txBody>
      </p:sp>
      <p:sp>
        <p:nvSpPr>
          <p:cNvPr id="20" name="">
            <a:extLst xmlns:a="http://schemas.openxmlformats.org/drawingml/2006/main">
              <a:ext uri="{FF2B5EF4-FFF2-40B4-BE49-F238E27FC236}">
                <a16:creationId xmlns:a16="http://schemas.microsoft.com/office/drawing/2014/main" id="{875C3B37-D90B-454D-970E-268F8B0DFD33}"/>
              </a:ext>
            </a:extLst>
          </p:cNvPr>
          <p:cNvSpPr>
            <a:spLocks xmlns:a="http://schemas.openxmlformats.org/drawingml/2006/main" noGrp="1"/>
          </p:cNvSpPr>
          <p:nvPr/>
        </p:nvSpPr>
        <p:spPr>
          <a:xfrm xmlns:a="http://schemas.openxmlformats.org/drawingml/2006/main">
            <a:off x="7715250" y="4762500"/>
            <a:ext cx="2857500" cy="1314450"/>
          </a:xfrm>
          <a:prstGeom xmlns:a="http://schemas.openxmlformats.org/drawingml/2006/main" prst="roundRect">
            <a:avLst>
              <a:gd name="adj" fmla="val 8696"/>
            </a:avLst>
          </a:prstGeom>
          <a:solidFill xmlns:a="http://schemas.openxmlformats.org/drawingml/2006/main">
            <a:srgbClr val="FFF3D7"/>
          </a:solidFill>
          <a:ln xmlns:a="http://schemas.openxmlformats.org/drawingml/2006/main" w="9525">
            <a:solidFill>
              <a:srgbClr val="B45309"/>
            </a:solidFill>
            <a:prstDash val="solid"/>
          </a:ln>
        </p:spPr>
      </p:sp>
      <p:sp>
        <p:nvSpPr>
          <p:cNvPr id="21" name="">
            <a:extLst xmlns:a="http://schemas.openxmlformats.org/drawingml/2006/main">
              <a:ext uri="{FF2B5EF4-FFF2-40B4-BE49-F238E27FC236}">
                <a16:creationId xmlns:a16="http://schemas.microsoft.com/office/drawing/2014/main" id="{83516FDE-60D0-44A5-9289-E8E8054819BE}"/>
              </a:ext>
            </a:extLst>
          </p:cNvPr>
          <p:cNvSpPr>
            <a:spLocks xmlns:a="http://schemas.openxmlformats.org/drawingml/2006/main" noGrp="1"/>
          </p:cNvSpPr>
          <p:nvPr/>
        </p:nvSpPr>
        <p:spPr>
          <a:xfrm xmlns:a="http://schemas.openxmlformats.org/drawingml/2006/main">
            <a:off x="7886700" y="48958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45309"/>
                </a:solidFill>
              </a:defRPr>
            </a:pPr>
            <a:r>
              <a:rPr sz="1350" b="1">
                <a:solidFill>
                  <a:srgbClr val="B45309"/>
                </a:solidFill>
              </a:rPr>
              <a:t>Task drift</a:t>
            </a:r>
          </a:p>
        </p:txBody>
      </p:sp>
      <p:sp>
        <p:nvSpPr>
          <p:cNvPr id="22" name="">
            <a:extLst xmlns:a="http://schemas.openxmlformats.org/drawingml/2006/main">
              <a:ext uri="{FF2B5EF4-FFF2-40B4-BE49-F238E27FC236}">
                <a16:creationId xmlns:a16="http://schemas.microsoft.com/office/drawing/2014/main" id="{40575F88-C7EF-4CE2-9F1E-1C34CE366493}"/>
              </a:ext>
            </a:extLst>
          </p:cNvPr>
          <p:cNvSpPr>
            <a:spLocks xmlns:a="http://schemas.openxmlformats.org/drawingml/2006/main" noGrp="1"/>
          </p:cNvSpPr>
          <p:nvPr/>
        </p:nvSpPr>
        <p:spPr>
          <a:xfrm xmlns:a="http://schemas.openxmlformats.org/drawingml/2006/main">
            <a:off x="7886700" y="5200650"/>
            <a:ext cx="2514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365D"/>
                </a:solidFill>
              </a:defRPr>
            </a:pPr>
            <a:r>
              <a:rPr sz="2550" b="1">
                <a:solidFill>
                  <a:srgbClr val="17365D"/>
                </a:solidFill>
              </a:rPr>
              <a:t>0.90</a:t>
            </a:r>
          </a:p>
        </p:txBody>
      </p:sp>
      <p:sp>
        <p:nvSpPr>
          <p:cNvPr id="23" name="">
            <a:extLst xmlns:a="http://schemas.openxmlformats.org/drawingml/2006/main">
              <a:ext uri="{FF2B5EF4-FFF2-40B4-BE49-F238E27FC236}">
                <a16:creationId xmlns:a16="http://schemas.microsoft.com/office/drawing/2014/main" id="{6DC35558-C9DD-4275-B246-E045D222F4C8}"/>
              </a:ext>
            </a:extLst>
          </p:cNvPr>
          <p:cNvSpPr>
            <a:spLocks xmlns:a="http://schemas.openxmlformats.org/drawingml/2006/main" noGrp="1"/>
          </p:cNvSpPr>
          <p:nvPr/>
        </p:nvSpPr>
        <p:spPr>
          <a:xfrm xmlns:a="http://schemas.openxmlformats.org/drawingml/2006/main">
            <a:off x="7886700" y="567690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334155"/>
                </a:solidFill>
              </a:defRPr>
            </a:pPr>
            <a:r>
              <a:rPr sz="1200" b="0">
                <a:solidFill>
                  <a:srgbClr val="334155"/>
                </a:solidFill>
              </a:rPr>
              <a:t>một họ malware chiếm đa số trong mỗi task</a:t>
            </a:r>
          </a:p>
        </p:txBody>
      </p:sp>
    </p:spTree>
    <p:extLst>
      <p:ext uri="{BB962C8B-B14F-4D97-AF65-F5344CB8AC3E}">
        <p14:creationId xmlns:p14="http://schemas.microsoft.com/office/powerpoint/2010/main" val="92325397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998D5A-AE20-4AFB-84BB-2BF49D8EFCD0}"/>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E4BF15A7-0790-48B0-B32D-99DB62627B55}"/>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Bài toán và bộ dữ liệu sử dụng</a:t>
            </a:r>
          </a:p>
        </p:txBody>
      </p:sp>
      <p:sp>
        <p:nvSpPr>
          <p:cNvPr id="3" name="">
            <a:extLst xmlns:a="http://schemas.openxmlformats.org/drawingml/2006/main">
              <a:ext uri="{FF2B5EF4-FFF2-40B4-BE49-F238E27FC236}">
                <a16:creationId xmlns:a16="http://schemas.microsoft.com/office/drawing/2014/main" id="{B3AB6E4A-79DF-46CD-B899-4948519B1320}"/>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083F4DAD-EFC2-4ED9-8F17-3DC33C270AC6}"/>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68BBA966-3204-4FA1-A01E-4306544E3A39}"/>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3/14</a:t>
            </a:r>
          </a:p>
        </p:txBody>
      </p:sp>
      <p:sp>
        <p:nvSpPr>
          <p:cNvPr id="6" name="">
            <a:extLst xmlns:a="http://schemas.openxmlformats.org/drawingml/2006/main">
              <a:ext uri="{FF2B5EF4-FFF2-40B4-BE49-F238E27FC236}">
                <a16:creationId xmlns:a16="http://schemas.microsoft.com/office/drawing/2014/main" id="{6BAD468E-CEC9-465B-A574-F37460AC952F}"/>
              </a:ext>
            </a:extLst>
          </p:cNvPr>
          <p:cNvSpPr>
            <a:spLocks xmlns:a="http://schemas.openxmlformats.org/drawingml/2006/main" noGrp="1"/>
          </p:cNvSpPr>
          <p:nvPr/>
        </p:nvSpPr>
        <p:spPr>
          <a:xfrm xmlns:a="http://schemas.openxmlformats.org/drawingml/2006/main">
            <a:off x="742950" y="1428750"/>
            <a:ext cx="4953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334155"/>
                </a:solidFill>
              </a:defRPr>
            </a:pPr>
            <a:r>
              <a:rPr sz="1575" b="0">
                <a:solidFill>
                  <a:srgbClr val="334155"/>
                </a:solidFill>
              </a:rPr>
              <a:t>- Dataset: CICMalDroid 2020.</a:t>
            </a:r>
          </a:p>
          <a:p xmlns:a="http://schemas.openxmlformats.org/drawingml/2006/main">
            <a:pPr algn="l">
              <a:defRPr sz="1575" b="0">
                <a:solidFill>
                  <a:srgbClr val="334155"/>
                </a:solidFill>
              </a:defRPr>
            </a:pPr>
            <a:r>
              <a:rPr sz="1575" b="0">
                <a:solidFill>
                  <a:srgbClr val="334155"/>
                </a:solidFill>
              </a:rPr>
              <a:t>- 5 nhóm gốc: Adware, Banking, SMS, Riskware, Benign.</a:t>
            </a:r>
          </a:p>
          <a:p xmlns:a="http://schemas.openxmlformats.org/drawingml/2006/main">
            <a:pPr algn="l">
              <a:defRPr sz="1575" b="0">
                <a:solidFill>
                  <a:srgbClr val="334155"/>
                </a:solidFill>
              </a:defRPr>
            </a:pPr>
            <a:r>
              <a:rPr sz="1575" b="0">
                <a:solidFill>
                  <a:srgbClr val="334155"/>
                </a:solidFill>
              </a:rPr>
              <a:t>- Bài toán trong code: binary malware detection.</a:t>
            </a:r>
          </a:p>
          <a:p xmlns:a="http://schemas.openxmlformats.org/drawingml/2006/main">
            <a:pPr algn="l">
              <a:defRPr sz="1575" b="0">
                <a:solidFill>
                  <a:srgbClr val="334155"/>
                </a:solidFill>
              </a:defRPr>
            </a:pPr>
            <a:r>
              <a:rPr sz="1575" b="0">
                <a:solidFill>
                  <a:srgbClr val="334155"/>
                </a:solidFill>
              </a:rPr>
              <a:t>- Class 1-4 được gộp thành Malware, class 5 là Benign.</a:t>
            </a:r>
          </a:p>
          <a:p xmlns:a="http://schemas.openxmlformats.org/drawingml/2006/main">
            <a:pPr algn="l">
              <a:defRPr sz="1575" b="0">
                <a:solidFill>
                  <a:srgbClr val="334155"/>
                </a:solidFill>
              </a:defRPr>
            </a:pPr>
            <a:r>
              <a:rPr sz="1575" b="0">
                <a:solidFill>
                  <a:srgbClr val="334155"/>
                </a:solidFill>
              </a:rPr>
              <a:t>- Feature: numeric features, xử lý NaN/Inf, bỏ cột constant, chọn top 200 bằng mutual information.</a:t>
            </a:r>
          </a:p>
        </p:txBody>
      </p:sp>
      <p:graphicFrame>
        <p:nvGraphicFramePr>
          <p:cNvPr id="17" name=""/>
          <p:cNvGraphicFramePr/>
          <p:nvPr/>
        </p:nvGraphicFramePr>
        <p:xfrm>
          <a:off xmlns:a="http://schemas.openxmlformats.org/drawingml/2006/main" x="6191250" y="1428750"/>
          <a:ext xmlns:a="http://schemas.openxmlformats.org/drawingml/2006/main" cx="4953000" cy="2857500"/>
        </p:xfrm>
        <a:graphic xmlns:a="http://schemas.openxmlformats.org/drawingml/2006/main">
          <a:graphicData uri="http://schemas.openxmlformats.org/drawingml/2006/table">
            <a:tbl>
              <a:tblPr/>
              <a:tblGrid>
                <a:gridCol w="1757516"/>
                <a:gridCol w="1597742"/>
                <a:gridCol w="1597742"/>
              </a:tblGrid>
              <a:tr h="476250">
                <a:tc>
                  <a:txBody>
                    <a:bodyPr/>
                    <a:lstStyle/>
                    <a:p>
                      <a:r>
                        <a:rPr sz="1200" b="1">
                          <a:solidFill>
                            <a:srgbClr val="FFFFFF"/>
                          </a:solidFill>
                        </a:rPr>
                        <a:t>Nhóm</a:t>
                      </a:r>
                    </a:p>
                  </a:txBody>
                  <a:tcPr marL="91440" marR="91440" marT="45720" marB="45720">
                    <a:solidFill>
                      <a:srgbClr val="17365D"/>
                    </a:solidFill>
                  </a:tcPr>
                </a:tc>
                <a:tc>
                  <a:txBody>
                    <a:bodyPr/>
                    <a:lstStyle/>
                    <a:p>
                      <a:r>
                        <a:rPr sz="1200" b="1">
                          <a:solidFill>
                            <a:srgbClr val="FFFFFF"/>
                          </a:solidFill>
                        </a:rPr>
                        <a:t>Vai trò</a:t>
                      </a:r>
                    </a:p>
                  </a:txBody>
                  <a:tcPr marL="91440" marR="91440" marT="45720" marB="45720">
                    <a:solidFill>
                      <a:srgbClr val="17365D"/>
                    </a:solidFill>
                  </a:tcPr>
                </a:tc>
                <a:tc>
                  <a:txBody>
                    <a:bodyPr/>
                    <a:lstStyle/>
                    <a:p>
                      <a:r>
                        <a:rPr sz="1200" b="1">
                          <a:solidFill>
                            <a:srgbClr val="FFFFFF"/>
                          </a:solidFill>
                        </a:rPr>
                        <a:t>Số mẫu 2:1</a:t>
                      </a:r>
                    </a:p>
                  </a:txBody>
                  <a:tcPr marL="91440" marR="91440" marT="45720" marB="45720">
                    <a:solidFill>
                      <a:srgbClr val="17365D"/>
                    </a:solidFill>
                  </a:tcPr>
                </a:tc>
              </a:tr>
              <a:tr h="476250">
                <a:tc>
                  <a:txBody>
                    <a:bodyPr/>
                    <a:lstStyle/>
                    <a:p>
                      <a:r>
                        <a:rPr sz="1200">
                          <a:solidFill>
                            <a:srgbClr val="334155"/>
                          </a:solidFill>
                        </a:rPr>
                        <a:t>Adware</a:t>
                      </a:r>
                    </a:p>
                  </a:txBody>
                  <a:tcPr marL="91440" marR="91440" marT="45720" marB="45720">
                    <a:solidFill>
                      <a:srgbClr val="FFFFFF"/>
                    </a:solidFill>
                  </a:tcPr>
                </a:tc>
                <a:tc>
                  <a:txBody>
                    <a:bodyPr/>
                    <a:lstStyle/>
                    <a:p>
                      <a:r>
                        <a:rPr sz="1200">
                          <a:solidFill>
                            <a:srgbClr val="334155"/>
                          </a:solidFill>
                        </a:rPr>
                        <a:t>Malware</a:t>
                      </a:r>
                    </a:p>
                  </a:txBody>
                  <a:tcPr marL="91440" marR="91440" marT="45720" marB="45720">
                    <a:solidFill>
                      <a:srgbClr val="FFFFFF"/>
                    </a:solidFill>
                  </a:tcPr>
                </a:tc>
                <a:tc>
                  <a:txBody>
                    <a:bodyPr/>
                    <a:lstStyle/>
                    <a:p>
                      <a:r>
                        <a:rPr sz="1200">
                          <a:solidFill>
                            <a:srgbClr val="334155"/>
                          </a:solidFill>
                        </a:rPr>
                        <a:t>479</a:t>
                      </a:r>
                    </a:p>
                  </a:txBody>
                  <a:tcPr marL="91440" marR="91440" marT="45720" marB="45720">
                    <a:solidFill>
                      <a:srgbClr val="FFFFFF"/>
                    </a:solidFill>
                  </a:tcPr>
                </a:tc>
              </a:tr>
              <a:tr h="476250">
                <a:tc>
                  <a:txBody>
                    <a:bodyPr/>
                    <a:lstStyle/>
                    <a:p>
                      <a:r>
                        <a:rPr sz="1200">
                          <a:solidFill>
                            <a:srgbClr val="334155"/>
                          </a:solidFill>
                        </a:rPr>
                        <a:t>Banking</a:t>
                      </a:r>
                    </a:p>
                  </a:txBody>
                  <a:tcPr marL="91440" marR="91440" marT="45720" marB="45720">
                    <a:solidFill>
                      <a:srgbClr val="FFFFFF"/>
                    </a:solidFill>
                  </a:tcPr>
                </a:tc>
                <a:tc>
                  <a:txBody>
                    <a:bodyPr/>
                    <a:lstStyle/>
                    <a:p>
                      <a:r>
                        <a:rPr sz="1200">
                          <a:solidFill>
                            <a:srgbClr val="334155"/>
                          </a:solidFill>
                        </a:rPr>
                        <a:t>Malware</a:t>
                      </a:r>
                    </a:p>
                  </a:txBody>
                  <a:tcPr marL="91440" marR="91440" marT="45720" marB="45720">
                    <a:solidFill>
                      <a:srgbClr val="FFFFFF"/>
                    </a:solidFill>
                  </a:tcPr>
                </a:tc>
                <a:tc>
                  <a:txBody>
                    <a:bodyPr/>
                    <a:lstStyle/>
                    <a:p>
                      <a:r>
                        <a:rPr sz="1200">
                          <a:solidFill>
                            <a:srgbClr val="334155"/>
                          </a:solidFill>
                        </a:rPr>
                        <a:t>781</a:t>
                      </a:r>
                    </a:p>
                  </a:txBody>
                  <a:tcPr marL="91440" marR="91440" marT="45720" marB="45720">
                    <a:solidFill>
                      <a:srgbClr val="FFFFFF"/>
                    </a:solidFill>
                  </a:tcPr>
                </a:tc>
              </a:tr>
              <a:tr h="476250">
                <a:tc>
                  <a:txBody>
                    <a:bodyPr/>
                    <a:lstStyle/>
                    <a:p>
                      <a:r>
                        <a:rPr sz="1200">
                          <a:solidFill>
                            <a:srgbClr val="334155"/>
                          </a:solidFill>
                        </a:rPr>
                        <a:t>SMS</a:t>
                      </a:r>
                    </a:p>
                  </a:txBody>
                  <a:tcPr marL="91440" marR="91440" marT="45720" marB="45720">
                    <a:solidFill>
                      <a:srgbClr val="FFFFFF"/>
                    </a:solidFill>
                  </a:tcPr>
                </a:tc>
                <a:tc>
                  <a:txBody>
                    <a:bodyPr/>
                    <a:lstStyle/>
                    <a:p>
                      <a:r>
                        <a:rPr sz="1200">
                          <a:solidFill>
                            <a:srgbClr val="334155"/>
                          </a:solidFill>
                        </a:rPr>
                        <a:t>Malware</a:t>
                      </a:r>
                    </a:p>
                  </a:txBody>
                  <a:tcPr marL="91440" marR="91440" marT="45720" marB="45720">
                    <a:solidFill>
                      <a:srgbClr val="FFFFFF"/>
                    </a:solidFill>
                  </a:tcPr>
                </a:tc>
                <a:tc>
                  <a:txBody>
                    <a:bodyPr/>
                    <a:lstStyle/>
                    <a:p>
                      <a:r>
                        <a:rPr sz="1200">
                          <a:solidFill>
                            <a:srgbClr val="334155"/>
                          </a:solidFill>
                        </a:rPr>
                        <a:t>1405</a:t>
                      </a:r>
                    </a:p>
                  </a:txBody>
                  <a:tcPr marL="91440" marR="91440" marT="45720" marB="45720">
                    <a:solidFill>
                      <a:srgbClr val="FFFFFF"/>
                    </a:solidFill>
                  </a:tcPr>
                </a:tc>
              </a:tr>
              <a:tr h="476250">
                <a:tc>
                  <a:txBody>
                    <a:bodyPr/>
                    <a:lstStyle/>
                    <a:p>
                      <a:r>
                        <a:rPr sz="1200">
                          <a:solidFill>
                            <a:srgbClr val="334155"/>
                          </a:solidFill>
                        </a:rPr>
                        <a:t>Riskware</a:t>
                      </a:r>
                    </a:p>
                  </a:txBody>
                  <a:tcPr marL="91440" marR="91440" marT="45720" marB="45720">
                    <a:solidFill>
                      <a:srgbClr val="FFFFFF"/>
                    </a:solidFill>
                  </a:tcPr>
                </a:tc>
                <a:tc>
                  <a:txBody>
                    <a:bodyPr/>
                    <a:lstStyle/>
                    <a:p>
                      <a:r>
                        <a:rPr sz="1200">
                          <a:solidFill>
                            <a:srgbClr val="334155"/>
                          </a:solidFill>
                        </a:rPr>
                        <a:t>Malware</a:t>
                      </a:r>
                    </a:p>
                  </a:txBody>
                  <a:tcPr marL="91440" marR="91440" marT="45720" marB="45720">
                    <a:solidFill>
                      <a:srgbClr val="FFFFFF"/>
                    </a:solidFill>
                  </a:tcPr>
                </a:tc>
                <a:tc>
                  <a:txBody>
                    <a:bodyPr/>
                    <a:lstStyle/>
                    <a:p>
                      <a:r>
                        <a:rPr sz="1200">
                          <a:solidFill>
                            <a:srgbClr val="334155"/>
                          </a:solidFill>
                        </a:rPr>
                        <a:t>925</a:t>
                      </a:r>
                    </a:p>
                  </a:txBody>
                  <a:tcPr marL="91440" marR="91440" marT="45720" marB="45720">
                    <a:solidFill>
                      <a:srgbClr val="FFFFFF"/>
                    </a:solidFill>
                  </a:tcPr>
                </a:tc>
              </a:tr>
              <a:tr h="476250">
                <a:tc>
                  <a:txBody>
                    <a:bodyPr/>
                    <a:lstStyle/>
                    <a:p>
                      <a:r>
                        <a:rPr sz="1200">
                          <a:solidFill>
                            <a:srgbClr val="334155"/>
                          </a:solidFill>
                        </a:rPr>
                        <a:t>Benign</a:t>
                      </a:r>
                    </a:p>
                  </a:txBody>
                  <a:tcPr marL="91440" marR="91440" marT="45720" marB="45720">
                    <a:solidFill>
                      <a:srgbClr val="FFFFFF"/>
                    </a:solidFill>
                  </a:tcPr>
                </a:tc>
                <a:tc>
                  <a:txBody>
                    <a:bodyPr/>
                    <a:lstStyle/>
                    <a:p>
                      <a:r>
                        <a:rPr sz="1200">
                          <a:solidFill>
                            <a:srgbClr val="334155"/>
                          </a:solidFill>
                        </a:rPr>
                        <a:t>Benign</a:t>
                      </a:r>
                    </a:p>
                  </a:txBody>
                  <a:tcPr marL="91440" marR="91440" marT="45720" marB="45720">
                    <a:solidFill>
                      <a:srgbClr val="FFFFFF"/>
                    </a:solidFill>
                  </a:tcPr>
                </a:tc>
                <a:tc>
                  <a:txBody>
                    <a:bodyPr/>
                    <a:lstStyle/>
                    <a:p>
                      <a:r>
                        <a:rPr sz="1200">
                          <a:solidFill>
                            <a:srgbClr val="334155"/>
                          </a:solidFill>
                        </a:rPr>
                        <a:t>1795</a:t>
                      </a:r>
                    </a:p>
                  </a:txBody>
                  <a:tcPr marL="91440" marR="91440" marT="45720" marB="45720">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D46BF17-CD05-4FD3-8ADB-CF4D3AC0D5C0}"/>
              </a:ext>
            </a:extLst>
          </p:cNvPr>
          <p:cNvSpPr>
            <a:spLocks xmlns:a="http://schemas.openxmlformats.org/drawingml/2006/main" noGrp="1"/>
          </p:cNvSpPr>
          <p:nvPr/>
        </p:nvSpPr>
        <p:spPr>
          <a:xfrm xmlns:a="http://schemas.openxmlformats.org/drawingml/2006/main">
            <a:off x="742950" y="4619625"/>
            <a:ext cx="10401300" cy="1143000"/>
          </a:xfrm>
          <a:prstGeom xmlns:a="http://schemas.openxmlformats.org/drawingml/2006/main" prst="roundRect">
            <a:avLst>
              <a:gd name="adj" fmla="val 10000"/>
            </a:avLst>
          </a:prstGeom>
          <a:solidFill xmlns:a="http://schemas.openxmlformats.org/drawingml/2006/main">
            <a:srgbClr val="FFF3D7"/>
          </a:solidFill>
          <a:ln xmlns:a="http://schemas.openxmlformats.org/drawingml/2006/main" w="9525">
            <a:solidFill>
              <a:srgbClr val="B4530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3779196-B5D8-4C7A-9482-4D2C90E1CF86}"/>
              </a:ext>
            </a:extLst>
          </p:cNvPr>
          <p:cNvSpPr>
            <a:spLocks xmlns:a="http://schemas.openxmlformats.org/drawingml/2006/main" noGrp="1"/>
          </p:cNvSpPr>
          <p:nvPr/>
        </p:nvSpPr>
        <p:spPr>
          <a:xfrm xmlns:a="http://schemas.openxmlformats.org/drawingml/2006/main">
            <a:off x="952500" y="4791075"/>
            <a:ext cx="9982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Hai tỷ lệ dữ liệu đã chạy</a:t>
            </a:r>
          </a:p>
        </p:txBody>
      </p:sp>
      <p:sp>
        <p:nvSpPr>
          <p:cNvPr id="10" name="">
            <a:extLst xmlns:a="http://schemas.openxmlformats.org/drawingml/2006/main">
              <a:ext uri="{FF2B5EF4-FFF2-40B4-BE49-F238E27FC236}">
                <a16:creationId xmlns:a16="http://schemas.microsoft.com/office/drawing/2014/main" id="{51B2893E-46AA-4646-B224-254436CB3C2D}"/>
              </a:ext>
            </a:extLst>
          </p:cNvPr>
          <p:cNvSpPr>
            <a:spLocks xmlns:a="http://schemas.openxmlformats.org/drawingml/2006/main" noGrp="1"/>
          </p:cNvSpPr>
          <p:nvPr/>
        </p:nvSpPr>
        <p:spPr>
          <a:xfrm xmlns:a="http://schemas.openxmlformats.org/drawingml/2006/main">
            <a:off x="952500" y="5172075"/>
            <a:ext cx="998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1:1 = 1795 malware + 1795 benign</a:t>
            </a:r>
          </a:p>
          <a:p xmlns:a="http://schemas.openxmlformats.org/drawingml/2006/main">
            <a:pPr algn="l">
              <a:defRPr sz="1350" b="0">
                <a:solidFill>
                  <a:srgbClr val="334155"/>
                </a:solidFill>
              </a:defRPr>
            </a:pPr>
            <a:r>
              <a:rPr sz="1350" b="0">
                <a:solidFill>
                  <a:srgbClr val="334155"/>
                </a:solidFill>
              </a:rPr>
              <a:t>2:1 = 3590 malware + 1795 benign</a:t>
            </a:r>
          </a:p>
          <a:p xmlns:a="http://schemas.openxmlformats.org/drawingml/2006/main">
            <a:r>
              <a:t/>
            </a:r>
          </a:p>
          <a:p xmlns:a="http://schemas.openxmlformats.org/drawingml/2006/main">
            <a:pPr algn="l">
              <a:defRPr sz="1350" b="0">
                <a:solidFill>
                  <a:srgbClr val="334155"/>
                </a:solidFill>
              </a:defRPr>
            </a:pPr>
            <a:r>
              <a:rPr sz="1350" b="0">
                <a:solidFill>
                  <a:srgbClr val="334155"/>
                </a:solidFill>
              </a:rPr>
              <a:t>Tỷ lệ 2:1 giúp mô hình nhìn thấy nhiều malware hơn, thường tăng Recall/F1.</a:t>
            </a:r>
          </a:p>
        </p:txBody>
      </p:sp>
    </p:spTree>
    <p:extLst>
      <p:ext uri="{BB962C8B-B14F-4D97-AF65-F5344CB8AC3E}">
        <p14:creationId xmlns:p14="http://schemas.microsoft.com/office/powerpoint/2010/main" val="288187844"/>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C56C4A-B29C-437E-B6EC-B05C79975675}"/>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13FD9080-E976-4AF2-A3AA-02D8271B4763}"/>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Cách chia dữ liệu: fold, task và client</a:t>
            </a:r>
          </a:p>
        </p:txBody>
      </p:sp>
      <p:sp>
        <p:nvSpPr>
          <p:cNvPr id="3" name="">
            <a:extLst xmlns:a="http://schemas.openxmlformats.org/drawingml/2006/main">
              <a:ext uri="{FF2B5EF4-FFF2-40B4-BE49-F238E27FC236}">
                <a16:creationId xmlns:a16="http://schemas.microsoft.com/office/drawing/2014/main" id="{0DFFCCBF-3C52-4805-AD94-CB3E03506E41}"/>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5A9A8B97-D121-4E69-B786-86AC68824CC0}"/>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F1798C2D-AC8A-4C85-91C1-42E60277A946}"/>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4/14</a:t>
            </a:r>
          </a:p>
        </p:txBody>
      </p:sp>
      <p:sp>
        <p:nvSpPr>
          <p:cNvPr id="6" name="">
            <a:extLst xmlns:a="http://schemas.openxmlformats.org/drawingml/2006/main">
              <a:ext uri="{FF2B5EF4-FFF2-40B4-BE49-F238E27FC236}">
                <a16:creationId xmlns:a16="http://schemas.microsoft.com/office/drawing/2014/main" id="{C1530FB6-9C2B-4F1F-B75D-45848283593F}"/>
              </a:ext>
            </a:extLst>
          </p:cNvPr>
          <p:cNvSpPr>
            <a:spLocks xmlns:a="http://schemas.openxmlformats.org/drawingml/2006/main" noGrp="1"/>
          </p:cNvSpPr>
          <p:nvPr/>
        </p:nvSpPr>
        <p:spPr>
          <a:xfrm xmlns:a="http://schemas.openxmlformats.org/drawingml/2006/main">
            <a:off x="762000" y="1571625"/>
            <a:ext cx="2190750" cy="1123950"/>
          </a:xfrm>
          <a:prstGeom xmlns:a="http://schemas.openxmlformats.org/drawingml/2006/main" prst="roundRect">
            <a:avLst>
              <a:gd name="adj" fmla="val 10169"/>
            </a:avLst>
          </a:prstGeom>
          <a:solidFill xmlns:a="http://schemas.openxmlformats.org/drawingml/2006/main">
            <a:srgbClr val="D9EAF7"/>
          </a:solidFill>
          <a:ln xmlns:a="http://schemas.openxmlformats.org/drawingml/2006/main" w="9525">
            <a:solidFill>
              <a:srgbClr val="2F5597"/>
            </a:solidFill>
            <a:prstDash val="solid"/>
          </a:ln>
        </p:spPr>
      </p:sp>
      <p:sp>
        <p:nvSpPr>
          <p:cNvPr id="7" name="">
            <a:extLst xmlns:a="http://schemas.openxmlformats.org/drawingml/2006/main">
              <a:ext uri="{FF2B5EF4-FFF2-40B4-BE49-F238E27FC236}">
                <a16:creationId xmlns:a16="http://schemas.microsoft.com/office/drawing/2014/main" id="{5B86663D-4F4F-4A91-866F-1315696DCF9F}"/>
              </a:ext>
            </a:extLst>
          </p:cNvPr>
          <p:cNvSpPr>
            <a:spLocks xmlns:a="http://schemas.openxmlformats.org/drawingml/2006/main" noGrp="1"/>
          </p:cNvSpPr>
          <p:nvPr/>
        </p:nvSpPr>
        <p:spPr>
          <a:xfrm xmlns:a="http://schemas.openxmlformats.org/drawingml/2006/main">
            <a:off x="933450" y="1724025"/>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F5597"/>
                </a:solidFill>
              </a:defRPr>
            </a:pPr>
            <a:r>
              <a:rPr sz="1650" b="1">
                <a:solidFill>
                  <a:srgbClr val="2F5597"/>
                </a:solidFill>
              </a:rPr>
              <a:t>Dataset</a:t>
            </a:r>
          </a:p>
        </p:txBody>
      </p:sp>
      <p:sp>
        <p:nvSpPr>
          <p:cNvPr id="8" name="">
            <a:extLst xmlns:a="http://schemas.openxmlformats.org/drawingml/2006/main">
              <a:ext uri="{FF2B5EF4-FFF2-40B4-BE49-F238E27FC236}">
                <a16:creationId xmlns:a16="http://schemas.microsoft.com/office/drawing/2014/main" id="{60152617-D7C4-445B-91EA-799C7395A8BA}"/>
              </a:ext>
            </a:extLst>
          </p:cNvPr>
          <p:cNvSpPr>
            <a:spLocks xmlns:a="http://schemas.openxmlformats.org/drawingml/2006/main" noGrp="1"/>
          </p:cNvSpPr>
          <p:nvPr/>
        </p:nvSpPr>
        <p:spPr>
          <a:xfrm xmlns:a="http://schemas.openxmlformats.org/drawingml/2006/main">
            <a:off x="933450" y="20859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334155"/>
                </a:solidFill>
              </a:defRPr>
            </a:pPr>
            <a:r>
              <a:rPr sz="1350" b="0">
                <a:solidFill>
                  <a:srgbClr val="334155"/>
                </a:solidFill>
              </a:rPr>
              <a:t>CICMalDroid</a:t>
            </a:r>
          </a:p>
          <a:p xmlns:a="http://schemas.openxmlformats.org/drawingml/2006/main">
            <a:pPr algn="ctr">
              <a:defRPr sz="1350" b="0">
                <a:solidFill>
                  <a:srgbClr val="334155"/>
                </a:solidFill>
              </a:defRPr>
            </a:pPr>
            <a:r>
              <a:rPr sz="1350" b="0">
                <a:solidFill>
                  <a:srgbClr val="334155"/>
                </a:solidFill>
              </a:rPr>
              <a:t>1:1 hoặc 2:1</a:t>
            </a:r>
          </a:p>
        </p:txBody>
      </p:sp>
      <p:sp>
        <p:nvSpPr>
          <p:cNvPr id="9" name="">
            <a:extLst xmlns:a="http://schemas.openxmlformats.org/drawingml/2006/main">
              <a:ext uri="{FF2B5EF4-FFF2-40B4-BE49-F238E27FC236}">
                <a16:creationId xmlns:a16="http://schemas.microsoft.com/office/drawing/2014/main" id="{EE3DEC02-E48E-41F3-8DB0-144F8B6C41B7}"/>
              </a:ext>
            </a:extLst>
          </p:cNvPr>
          <p:cNvSpPr>
            <a:spLocks xmlns:a="http://schemas.openxmlformats.org/drawingml/2006/main" noGrp="1"/>
          </p:cNvSpPr>
          <p:nvPr/>
        </p:nvSpPr>
        <p:spPr>
          <a:xfrm xmlns:a="http://schemas.openxmlformats.org/drawingml/2006/main">
            <a:off x="3067050" y="1933575"/>
            <a:ext cx="400050" cy="400050"/>
          </a:xfrm>
          <a:prstGeom xmlns:a="http://schemas.openxmlformats.org/drawingml/2006/main" prst="rightArrow">
            <a:avLst/>
          </a:prstGeom>
          <a:solidFill xmlns:a="http://schemas.openxmlformats.org/drawingml/2006/main">
            <a:srgbClr val="2F5597"/>
          </a:solidFill>
          <a:ln xmlns:a="http://schemas.openxmlformats.org/drawingml/2006/main" w="0">
            <a:solidFill>
              <a:srgbClr val="2F5597"/>
            </a:solidFill>
            <a:prstDash val="solid"/>
          </a:ln>
        </p:spPr>
      </p:sp>
      <p:sp>
        <p:nvSpPr>
          <p:cNvPr id="10" name="">
            <a:extLst xmlns:a="http://schemas.openxmlformats.org/drawingml/2006/main">
              <a:ext uri="{FF2B5EF4-FFF2-40B4-BE49-F238E27FC236}">
                <a16:creationId xmlns:a16="http://schemas.microsoft.com/office/drawing/2014/main" id="{9A8C74D6-D3A6-4D64-90D6-360C82D76C65}"/>
              </a:ext>
            </a:extLst>
          </p:cNvPr>
          <p:cNvSpPr>
            <a:spLocks xmlns:a="http://schemas.openxmlformats.org/drawingml/2006/main" noGrp="1"/>
          </p:cNvSpPr>
          <p:nvPr/>
        </p:nvSpPr>
        <p:spPr>
          <a:xfrm xmlns:a="http://schemas.openxmlformats.org/drawingml/2006/main">
            <a:off x="3571875" y="1571625"/>
            <a:ext cx="2190750" cy="1123950"/>
          </a:xfrm>
          <a:prstGeom xmlns:a="http://schemas.openxmlformats.org/drawingml/2006/main" prst="roundRect">
            <a:avLst>
              <a:gd name="adj" fmla="val 10169"/>
            </a:avLst>
          </a:prstGeom>
          <a:solidFill xmlns:a="http://schemas.openxmlformats.org/drawingml/2006/main">
            <a:srgbClr val="EFE7F6"/>
          </a:solidFill>
          <a:ln xmlns:a="http://schemas.openxmlformats.org/drawingml/2006/main" w="9525">
            <a:solidFill>
              <a:srgbClr val="5B2C83"/>
            </a:solidFill>
            <a:prstDash val="solid"/>
          </a:ln>
        </p:spPr>
      </p:sp>
      <p:sp>
        <p:nvSpPr>
          <p:cNvPr id="11" name="">
            <a:extLst xmlns:a="http://schemas.openxmlformats.org/drawingml/2006/main">
              <a:ext uri="{FF2B5EF4-FFF2-40B4-BE49-F238E27FC236}">
                <a16:creationId xmlns:a16="http://schemas.microsoft.com/office/drawing/2014/main" id="{E44AE831-C8D9-4725-99A2-16D4274EA426}"/>
              </a:ext>
            </a:extLst>
          </p:cNvPr>
          <p:cNvSpPr>
            <a:spLocks xmlns:a="http://schemas.openxmlformats.org/drawingml/2006/main" noGrp="1"/>
          </p:cNvSpPr>
          <p:nvPr/>
        </p:nvSpPr>
        <p:spPr>
          <a:xfrm xmlns:a="http://schemas.openxmlformats.org/drawingml/2006/main">
            <a:off x="3743325" y="1724025"/>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5B2C83"/>
                </a:solidFill>
              </a:defRPr>
            </a:pPr>
            <a:r>
              <a:rPr sz="1650" b="1">
                <a:solidFill>
                  <a:srgbClr val="5B2C83"/>
                </a:solidFill>
              </a:rPr>
              <a:t>K-Fold</a:t>
            </a:r>
          </a:p>
        </p:txBody>
      </p:sp>
      <p:sp>
        <p:nvSpPr>
          <p:cNvPr id="12" name="">
            <a:extLst xmlns:a="http://schemas.openxmlformats.org/drawingml/2006/main">
              <a:ext uri="{FF2B5EF4-FFF2-40B4-BE49-F238E27FC236}">
                <a16:creationId xmlns:a16="http://schemas.microsoft.com/office/drawing/2014/main" id="{48705F6C-755C-40A1-BC4C-4CF8AF67257F}"/>
              </a:ext>
            </a:extLst>
          </p:cNvPr>
          <p:cNvSpPr>
            <a:spLocks xmlns:a="http://schemas.openxmlformats.org/drawingml/2006/main" noGrp="1"/>
          </p:cNvSpPr>
          <p:nvPr/>
        </p:nvSpPr>
        <p:spPr>
          <a:xfrm xmlns:a="http://schemas.openxmlformats.org/drawingml/2006/main">
            <a:off x="3743325" y="20859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334155"/>
                </a:solidFill>
              </a:defRPr>
            </a:pPr>
            <a:r>
              <a:rPr sz="1350" b="0">
                <a:solidFill>
                  <a:srgbClr val="334155"/>
                </a:solidFill>
              </a:rPr>
              <a:t>K = 5</a:t>
            </a:r>
          </a:p>
          <a:p xmlns:a="http://schemas.openxmlformats.org/drawingml/2006/main">
            <a:pPr algn="ctr">
              <a:defRPr sz="1350" b="0">
                <a:solidFill>
                  <a:srgbClr val="334155"/>
                </a:solidFill>
              </a:defRPr>
            </a:pPr>
            <a:r>
              <a:rPr sz="1350" b="0">
                <a:solidFill>
                  <a:srgbClr val="334155"/>
                </a:solidFill>
              </a:rPr>
              <a:t>mỗi fold độc lập</a:t>
            </a:r>
          </a:p>
        </p:txBody>
      </p:sp>
      <p:sp>
        <p:nvSpPr>
          <p:cNvPr id="13" name="">
            <a:extLst xmlns:a="http://schemas.openxmlformats.org/drawingml/2006/main">
              <a:ext uri="{FF2B5EF4-FFF2-40B4-BE49-F238E27FC236}">
                <a16:creationId xmlns:a16="http://schemas.microsoft.com/office/drawing/2014/main" id="{AC8A4CE0-C12E-4216-AE9E-F9C10208095F}"/>
              </a:ext>
            </a:extLst>
          </p:cNvPr>
          <p:cNvSpPr>
            <a:spLocks xmlns:a="http://schemas.openxmlformats.org/drawingml/2006/main" noGrp="1"/>
          </p:cNvSpPr>
          <p:nvPr/>
        </p:nvSpPr>
        <p:spPr>
          <a:xfrm xmlns:a="http://schemas.openxmlformats.org/drawingml/2006/main">
            <a:off x="5876925" y="1933575"/>
            <a:ext cx="400050" cy="400050"/>
          </a:xfrm>
          <a:prstGeom xmlns:a="http://schemas.openxmlformats.org/drawingml/2006/main" prst="rightArrow">
            <a:avLst/>
          </a:prstGeom>
          <a:solidFill xmlns:a="http://schemas.openxmlformats.org/drawingml/2006/main">
            <a:srgbClr val="2F5597"/>
          </a:solidFill>
          <a:ln xmlns:a="http://schemas.openxmlformats.org/drawingml/2006/main" w="0">
            <a:solidFill>
              <a:srgbClr val="2F5597"/>
            </a:solidFill>
            <a:prstDash val="solid"/>
          </a:ln>
        </p:spPr>
      </p:sp>
      <p:sp>
        <p:nvSpPr>
          <p:cNvPr id="14" name="">
            <a:extLst xmlns:a="http://schemas.openxmlformats.org/drawingml/2006/main">
              <a:ext uri="{FF2B5EF4-FFF2-40B4-BE49-F238E27FC236}">
                <a16:creationId xmlns:a16="http://schemas.microsoft.com/office/drawing/2014/main" id="{0FFE8B96-0490-41D5-BB8E-9A4BB26962E7}"/>
              </a:ext>
            </a:extLst>
          </p:cNvPr>
          <p:cNvSpPr>
            <a:spLocks xmlns:a="http://schemas.openxmlformats.org/drawingml/2006/main" noGrp="1"/>
          </p:cNvSpPr>
          <p:nvPr/>
        </p:nvSpPr>
        <p:spPr>
          <a:xfrm xmlns:a="http://schemas.openxmlformats.org/drawingml/2006/main">
            <a:off x="6381750" y="1571625"/>
            <a:ext cx="2190750" cy="1123950"/>
          </a:xfrm>
          <a:prstGeom xmlns:a="http://schemas.openxmlformats.org/drawingml/2006/main" prst="roundRect">
            <a:avLst>
              <a:gd name="adj" fmla="val 10169"/>
            </a:avLst>
          </a:prstGeom>
          <a:solidFill xmlns:a="http://schemas.openxmlformats.org/drawingml/2006/main">
            <a:srgbClr val="FFF3D7"/>
          </a:solidFill>
          <a:ln xmlns:a="http://schemas.openxmlformats.org/drawingml/2006/main" w="9525">
            <a:solidFill>
              <a:srgbClr val="B45309"/>
            </a:solidFill>
            <a:prstDash val="solid"/>
          </a:ln>
        </p:spPr>
      </p:sp>
      <p:sp>
        <p:nvSpPr>
          <p:cNvPr id="15" name="">
            <a:extLst xmlns:a="http://schemas.openxmlformats.org/drawingml/2006/main">
              <a:ext uri="{FF2B5EF4-FFF2-40B4-BE49-F238E27FC236}">
                <a16:creationId xmlns:a16="http://schemas.microsoft.com/office/drawing/2014/main" id="{AB652119-3FD4-405C-9EA1-2CB4192AFA23}"/>
              </a:ext>
            </a:extLst>
          </p:cNvPr>
          <p:cNvSpPr>
            <a:spLocks xmlns:a="http://schemas.openxmlformats.org/drawingml/2006/main" noGrp="1"/>
          </p:cNvSpPr>
          <p:nvPr/>
        </p:nvSpPr>
        <p:spPr>
          <a:xfrm xmlns:a="http://schemas.openxmlformats.org/drawingml/2006/main">
            <a:off x="6553200" y="1724025"/>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B45309"/>
                </a:solidFill>
              </a:defRPr>
            </a:pPr>
            <a:r>
              <a:rPr sz="1650" b="1">
                <a:solidFill>
                  <a:srgbClr val="B45309"/>
                </a:solidFill>
              </a:rPr>
              <a:t>Tasks</a:t>
            </a:r>
          </a:p>
        </p:txBody>
      </p:sp>
      <p:sp>
        <p:nvSpPr>
          <p:cNvPr id="16" name="">
            <a:extLst xmlns:a="http://schemas.openxmlformats.org/drawingml/2006/main">
              <a:ext uri="{FF2B5EF4-FFF2-40B4-BE49-F238E27FC236}">
                <a16:creationId xmlns:a16="http://schemas.microsoft.com/office/drawing/2014/main" id="{402C67A6-2C64-4521-BB7C-D02CC1A97993}"/>
              </a:ext>
            </a:extLst>
          </p:cNvPr>
          <p:cNvSpPr>
            <a:spLocks xmlns:a="http://schemas.openxmlformats.org/drawingml/2006/main" noGrp="1"/>
          </p:cNvSpPr>
          <p:nvPr/>
        </p:nvSpPr>
        <p:spPr>
          <a:xfrm xmlns:a="http://schemas.openxmlformats.org/drawingml/2006/main">
            <a:off x="6553200" y="20859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334155"/>
                </a:solidFill>
              </a:defRPr>
            </a:pPr>
            <a:r>
              <a:rPr sz="1350" b="0">
                <a:solidFill>
                  <a:srgbClr val="334155"/>
                </a:solidFill>
              </a:rPr>
              <a:t>5 task tuần tự</a:t>
            </a:r>
          </a:p>
          <a:p xmlns:a="http://schemas.openxmlformats.org/drawingml/2006/main">
            <a:pPr algn="ctr">
              <a:defRPr sz="1350" b="0">
                <a:solidFill>
                  <a:srgbClr val="334155"/>
                </a:solidFill>
              </a:defRPr>
            </a:pPr>
            <a:r>
              <a:rPr sz="1350" b="0">
                <a:solidFill>
                  <a:srgbClr val="334155"/>
                </a:solidFill>
              </a:rPr>
              <a:t>Task 0 -&gt; 4</a:t>
            </a:r>
          </a:p>
        </p:txBody>
      </p:sp>
      <p:sp>
        <p:nvSpPr>
          <p:cNvPr id="17" name="">
            <a:extLst xmlns:a="http://schemas.openxmlformats.org/drawingml/2006/main">
              <a:ext uri="{FF2B5EF4-FFF2-40B4-BE49-F238E27FC236}">
                <a16:creationId xmlns:a16="http://schemas.microsoft.com/office/drawing/2014/main" id="{B682947B-F08F-42B9-A3AB-5129FFBB1EC8}"/>
              </a:ext>
            </a:extLst>
          </p:cNvPr>
          <p:cNvSpPr>
            <a:spLocks xmlns:a="http://schemas.openxmlformats.org/drawingml/2006/main" noGrp="1"/>
          </p:cNvSpPr>
          <p:nvPr/>
        </p:nvSpPr>
        <p:spPr>
          <a:xfrm xmlns:a="http://schemas.openxmlformats.org/drawingml/2006/main">
            <a:off x="8686800" y="1933575"/>
            <a:ext cx="400050" cy="400050"/>
          </a:xfrm>
          <a:prstGeom xmlns:a="http://schemas.openxmlformats.org/drawingml/2006/main" prst="rightArrow">
            <a:avLst/>
          </a:prstGeom>
          <a:solidFill xmlns:a="http://schemas.openxmlformats.org/drawingml/2006/main">
            <a:srgbClr val="2F5597"/>
          </a:solidFill>
          <a:ln xmlns:a="http://schemas.openxmlformats.org/drawingml/2006/main" w="0">
            <a:solidFill>
              <a:srgbClr val="2F5597"/>
            </a:solidFill>
            <a:prstDash val="solid"/>
          </a:ln>
        </p:spPr>
      </p:sp>
      <p:sp>
        <p:nvSpPr>
          <p:cNvPr id="18" name="">
            <a:extLst xmlns:a="http://schemas.openxmlformats.org/drawingml/2006/main">
              <a:ext uri="{FF2B5EF4-FFF2-40B4-BE49-F238E27FC236}">
                <a16:creationId xmlns:a16="http://schemas.microsoft.com/office/drawing/2014/main" id="{7F0B111A-893B-4073-AB13-B179D9CA624F}"/>
              </a:ext>
            </a:extLst>
          </p:cNvPr>
          <p:cNvSpPr>
            <a:spLocks xmlns:a="http://schemas.openxmlformats.org/drawingml/2006/main" noGrp="1"/>
          </p:cNvSpPr>
          <p:nvPr/>
        </p:nvSpPr>
        <p:spPr>
          <a:xfrm xmlns:a="http://schemas.openxmlformats.org/drawingml/2006/main">
            <a:off x="9191625" y="1571625"/>
            <a:ext cx="2190750" cy="1123950"/>
          </a:xfrm>
          <a:prstGeom xmlns:a="http://schemas.openxmlformats.org/drawingml/2006/main" prst="roundRect">
            <a:avLst>
              <a:gd name="adj" fmla="val 10169"/>
            </a:avLst>
          </a:prstGeom>
          <a:solidFill xmlns:a="http://schemas.openxmlformats.org/drawingml/2006/main">
            <a:srgbClr val="E7F4E8"/>
          </a:solidFill>
          <a:ln xmlns:a="http://schemas.openxmlformats.org/drawingml/2006/main" w="9525">
            <a:solidFill>
              <a:srgbClr val="2E7D32"/>
            </a:solidFill>
            <a:prstDash val="solid"/>
          </a:ln>
        </p:spPr>
      </p:sp>
      <p:sp>
        <p:nvSpPr>
          <p:cNvPr id="19" name="">
            <a:extLst xmlns:a="http://schemas.openxmlformats.org/drawingml/2006/main">
              <a:ext uri="{FF2B5EF4-FFF2-40B4-BE49-F238E27FC236}">
                <a16:creationId xmlns:a16="http://schemas.microsoft.com/office/drawing/2014/main" id="{3F432E31-5968-4EB0-8342-C9C003AE8A10}"/>
              </a:ext>
            </a:extLst>
          </p:cNvPr>
          <p:cNvSpPr>
            <a:spLocks xmlns:a="http://schemas.openxmlformats.org/drawingml/2006/main" noGrp="1"/>
          </p:cNvSpPr>
          <p:nvPr/>
        </p:nvSpPr>
        <p:spPr>
          <a:xfrm xmlns:a="http://schemas.openxmlformats.org/drawingml/2006/main">
            <a:off x="9363075" y="1724025"/>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E7D32"/>
                </a:solidFill>
              </a:defRPr>
            </a:pPr>
            <a:r>
              <a:rPr sz="1650" b="1">
                <a:solidFill>
                  <a:srgbClr val="2E7D32"/>
                </a:solidFill>
              </a:rPr>
              <a:t>Clients</a:t>
            </a:r>
          </a:p>
        </p:txBody>
      </p:sp>
      <p:sp>
        <p:nvSpPr>
          <p:cNvPr id="20" name="">
            <a:extLst xmlns:a="http://schemas.openxmlformats.org/drawingml/2006/main">
              <a:ext uri="{FF2B5EF4-FFF2-40B4-BE49-F238E27FC236}">
                <a16:creationId xmlns:a16="http://schemas.microsoft.com/office/drawing/2014/main" id="{A0F0EBCF-32C5-4DC9-A8EA-BCEB4D2FBA93}"/>
              </a:ext>
            </a:extLst>
          </p:cNvPr>
          <p:cNvSpPr>
            <a:spLocks xmlns:a="http://schemas.openxmlformats.org/drawingml/2006/main" noGrp="1"/>
          </p:cNvSpPr>
          <p:nvPr/>
        </p:nvSpPr>
        <p:spPr>
          <a:xfrm xmlns:a="http://schemas.openxmlformats.org/drawingml/2006/main">
            <a:off x="9363075" y="20859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334155"/>
                </a:solidFill>
              </a:defRPr>
            </a:pPr>
            <a:r>
              <a:rPr sz="1350" b="0">
                <a:solidFill>
                  <a:srgbClr val="334155"/>
                </a:solidFill>
              </a:rPr>
              <a:t>5 client</a:t>
            </a:r>
          </a:p>
          <a:p xmlns:a="http://schemas.openxmlformats.org/drawingml/2006/main">
            <a:pPr algn="ctr">
              <a:defRPr sz="1350" b="0">
                <a:solidFill>
                  <a:srgbClr val="334155"/>
                </a:solidFill>
              </a:defRPr>
            </a:pPr>
            <a:r>
              <a:rPr sz="1350" b="0">
                <a:solidFill>
                  <a:srgbClr val="334155"/>
                </a:solidFill>
              </a:rPr>
              <a:t>Non-IID alpha</a:t>
            </a:r>
          </a:p>
        </p:txBody>
      </p:sp>
      <p:sp>
        <p:nvSpPr>
          <p:cNvPr id="21" name="">
            <a:extLst xmlns:a="http://schemas.openxmlformats.org/drawingml/2006/main">
              <a:ext uri="{FF2B5EF4-FFF2-40B4-BE49-F238E27FC236}">
                <a16:creationId xmlns:a16="http://schemas.microsoft.com/office/drawing/2014/main" id="{75B088B3-8455-4335-990A-872B8E077B51}"/>
              </a:ext>
            </a:extLst>
          </p:cNvPr>
          <p:cNvSpPr>
            <a:spLocks xmlns:a="http://schemas.openxmlformats.org/drawingml/2006/main" noGrp="1"/>
          </p:cNvSpPr>
          <p:nvPr/>
        </p:nvSpPr>
        <p:spPr>
          <a:xfrm xmlns:a="http://schemas.openxmlformats.org/drawingml/2006/main">
            <a:off x="857250" y="3238500"/>
            <a:ext cx="4762500" cy="2143125"/>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2543C0D0-B376-4CAE-BC13-A145E7E219DE}"/>
              </a:ext>
            </a:extLst>
          </p:cNvPr>
          <p:cNvSpPr>
            <a:spLocks xmlns:a="http://schemas.openxmlformats.org/drawingml/2006/main" noGrp="1"/>
          </p:cNvSpPr>
          <p:nvPr/>
        </p:nvSpPr>
        <p:spPr>
          <a:xfrm xmlns:a="http://schemas.openxmlformats.org/drawingml/2006/main">
            <a:off x="1066800" y="3409950"/>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Điểm chỉnh quan trọng sau khi trao đổi</a:t>
            </a:r>
          </a:p>
        </p:txBody>
      </p:sp>
      <p:sp>
        <p:nvSpPr>
          <p:cNvPr id="23" name="">
            <a:extLst xmlns:a="http://schemas.openxmlformats.org/drawingml/2006/main">
              <a:ext uri="{FF2B5EF4-FFF2-40B4-BE49-F238E27FC236}">
                <a16:creationId xmlns:a16="http://schemas.microsoft.com/office/drawing/2014/main" id="{1209F7FC-A516-42D0-8FFA-7DBE27EB5717}"/>
              </a:ext>
            </a:extLst>
          </p:cNvPr>
          <p:cNvSpPr>
            <a:spLocks xmlns:a="http://schemas.openxmlformats.org/drawingml/2006/main" noGrp="1"/>
          </p:cNvSpPr>
          <p:nvPr/>
        </p:nvSpPr>
        <p:spPr>
          <a:xfrm xmlns:a="http://schemas.openxmlformats.org/drawingml/2006/main">
            <a:off x="1066800" y="3790950"/>
            <a:ext cx="4343400" cy="1419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Mỗi task không chỉ chứa một họ mã độc. Tất cả các task đều có Adware, Banking, SMS, Riskware, nhưng một họ chiếm đa số để tạo drift có kiểm soát.</a:t>
            </a:r>
          </a:p>
          <a:p xmlns:a="http://schemas.openxmlformats.org/drawingml/2006/main">
            <a:r>
              <a:t/>
            </a:r>
          </a:p>
          <a:p xmlns:a="http://schemas.openxmlformats.org/drawingml/2006/main">
            <a:pPr algn="l">
              <a:defRPr sz="1350" b="0">
                <a:solidFill>
                  <a:srgbClr val="334155"/>
                </a:solidFill>
              </a:defRPr>
            </a:pPr>
            <a:r>
              <a:rPr sz="1350" b="0">
                <a:solidFill>
                  <a:srgbClr val="334155"/>
                </a:solidFill>
              </a:rPr>
              <a:t>Với dominant_ratio = 0.90, forgetting thể hiện rõ hơn nhưng vẫn giữ đa dạng malware.</a:t>
            </a:r>
          </a:p>
        </p:txBody>
      </p:sp>
      <p:sp>
        <p:nvSpPr>
          <p:cNvPr id="24" name="">
            <a:extLst xmlns:a="http://schemas.openxmlformats.org/drawingml/2006/main">
              <a:ext uri="{FF2B5EF4-FFF2-40B4-BE49-F238E27FC236}">
                <a16:creationId xmlns:a16="http://schemas.microsoft.com/office/drawing/2014/main" id="{DBC3361E-5985-4D6E-8ECE-96669FB3FFF0}"/>
              </a:ext>
            </a:extLst>
          </p:cNvPr>
          <p:cNvSpPr>
            <a:spLocks xmlns:a="http://schemas.openxmlformats.org/drawingml/2006/main" noGrp="1"/>
          </p:cNvSpPr>
          <p:nvPr/>
        </p:nvSpPr>
        <p:spPr>
          <a:xfrm xmlns:a="http://schemas.openxmlformats.org/drawingml/2006/main">
            <a:off x="6572250" y="3333750"/>
            <a:ext cx="4762500" cy="2000250"/>
          </a:xfrm>
          <a:prstGeom xmlns:a="http://schemas.openxmlformats.org/drawingml/2006/main" prst="roundRect">
            <a:avLst>
              <a:gd name="adj" fmla="val 5714"/>
            </a:avLst>
          </a:prstGeom>
          <a:solidFill xmlns:a="http://schemas.openxmlformats.org/drawingml/2006/main">
            <a:srgbClr val="E7F4E8"/>
          </a:solidFill>
          <a:ln xmlns:a="http://schemas.openxmlformats.org/drawingml/2006/main" w="9525">
            <a:solidFill>
              <a:srgbClr val="2E7D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81229097-744A-4CEF-B513-B1720218CCBF}"/>
              </a:ext>
            </a:extLst>
          </p:cNvPr>
          <p:cNvSpPr>
            <a:spLocks xmlns:a="http://schemas.openxmlformats.org/drawingml/2006/main" noGrp="1"/>
          </p:cNvSpPr>
          <p:nvPr/>
        </p:nvSpPr>
        <p:spPr>
          <a:xfrm xmlns:a="http://schemas.openxmlformats.org/drawingml/2006/main">
            <a:off x="6781800" y="3505200"/>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Ví dụ trực giác</a:t>
            </a:r>
          </a:p>
        </p:txBody>
      </p:sp>
      <p:sp>
        <p:nvSpPr>
          <p:cNvPr id="26" name="">
            <a:extLst xmlns:a="http://schemas.openxmlformats.org/drawingml/2006/main">
              <a:ext uri="{FF2B5EF4-FFF2-40B4-BE49-F238E27FC236}">
                <a16:creationId xmlns:a16="http://schemas.microsoft.com/office/drawing/2014/main" id="{A5854D92-31FE-47F2-B9A6-91CEA0EF9F06}"/>
              </a:ext>
            </a:extLst>
          </p:cNvPr>
          <p:cNvSpPr>
            <a:spLocks xmlns:a="http://schemas.openxmlformats.org/drawingml/2006/main" noGrp="1"/>
          </p:cNvSpPr>
          <p:nvPr/>
        </p:nvSpPr>
        <p:spPr>
          <a:xfrm xmlns:a="http://schemas.openxmlformats.org/drawingml/2006/main">
            <a:off x="6781800" y="3886200"/>
            <a:ext cx="43434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Task 0 có đủ 4 họ malware nhưng Adware chiếm nhiều nhất.</a:t>
            </a:r>
          </a:p>
          <a:p xmlns:a="http://schemas.openxmlformats.org/drawingml/2006/main">
            <a:pPr algn="l">
              <a:defRPr sz="1350" b="0">
                <a:solidFill>
                  <a:srgbClr val="334155"/>
                </a:solidFill>
              </a:defRPr>
            </a:pPr>
            <a:r>
              <a:rPr sz="1350" b="0">
                <a:solidFill>
                  <a:srgbClr val="334155"/>
                </a:solidFill>
              </a:rPr>
              <a:t>Task 1 vẫn có đủ 4 họ nhưng Banking chiếm nhiều nhất.</a:t>
            </a:r>
          </a:p>
          <a:p xmlns:a="http://schemas.openxmlformats.org/drawingml/2006/main">
            <a:pPr algn="l">
              <a:defRPr sz="1350" b="0">
                <a:solidFill>
                  <a:srgbClr val="334155"/>
                </a:solidFill>
              </a:defRPr>
            </a:pPr>
            <a:r>
              <a:rPr sz="1350" b="0">
                <a:solidFill>
                  <a:srgbClr val="334155"/>
                </a:solidFill>
              </a:rPr>
              <a:t>Task 2 tương tự với SMS, Task 3 với Riskware, Task 4 là mixed/held-out.</a:t>
            </a:r>
          </a:p>
        </p:txBody>
      </p:sp>
    </p:spTree>
    <p:extLst>
      <p:ext uri="{BB962C8B-B14F-4D97-AF65-F5344CB8AC3E}">
        <p14:creationId xmlns:p14="http://schemas.microsoft.com/office/powerpoint/2010/main" val="1949251747"/>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8A0A53-AA60-420A-89A3-015EDC9E2022}"/>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1C877DF4-F59B-4098-ADE7-547037A0D17F}"/>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Pipeline chương trình</a:t>
            </a:r>
          </a:p>
        </p:txBody>
      </p:sp>
      <p:sp>
        <p:nvSpPr>
          <p:cNvPr id="3" name="">
            <a:extLst xmlns:a="http://schemas.openxmlformats.org/drawingml/2006/main">
              <a:ext uri="{FF2B5EF4-FFF2-40B4-BE49-F238E27FC236}">
                <a16:creationId xmlns:a16="http://schemas.microsoft.com/office/drawing/2014/main" id="{BF3B481E-12DC-4508-9E2E-5C068001F057}"/>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470103B7-D3E2-46FE-9F84-655847B79335}"/>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9639F8AD-A936-4352-84D8-0AAD410E0896}"/>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5/14</a:t>
            </a:r>
          </a:p>
        </p:txBody>
      </p:sp>
      <p:sp>
        <p:nvSpPr>
          <p:cNvPr id="6" name="">
            <a:extLst xmlns:a="http://schemas.openxmlformats.org/drawingml/2006/main">
              <a:ext uri="{FF2B5EF4-FFF2-40B4-BE49-F238E27FC236}">
                <a16:creationId xmlns:a16="http://schemas.microsoft.com/office/drawing/2014/main" id="{2E0E9135-4E73-4855-BCFD-B03543D0CBCE}"/>
              </a:ext>
            </a:extLst>
          </p:cNvPr>
          <p:cNvSpPr>
            <a:spLocks xmlns:a="http://schemas.openxmlformats.org/drawingml/2006/main" noGrp="1"/>
          </p:cNvSpPr>
          <p:nvPr/>
        </p:nvSpPr>
        <p:spPr>
          <a:xfrm xmlns:a="http://schemas.openxmlformats.org/drawingml/2006/main">
            <a:off x="742950" y="1314450"/>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334155"/>
                </a:solidFill>
              </a:defRPr>
            </a:pPr>
            <a:r>
              <a:rPr sz="1500" b="0">
                <a:solidFill>
                  <a:srgbClr val="334155"/>
                </a:solidFill>
              </a:rPr>
              <a:t>Luồng chạy tổng quát: chuẩn bị dữ liệu -&gt; huấn luyện liên kết theo task/round -&gt; đánh giá và xuất kết quả.</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22df101ce3741be"/>
          <a:stretch xmlns:a="http://schemas.openxmlformats.org/drawingml/2006/main"/>
        </p:blipFill>
        <p:spPr>
          <a:xfrm xmlns:a="http://schemas.openxmlformats.org/drawingml/2006/main">
            <a:off x="2944091" y="1809750"/>
            <a:ext cx="6303818" cy="4000500"/>
          </a:xfrm>
          <a:prstGeom xmlns:a="http://schemas.openxmlformats.org/drawingml/2006/main" prst="roundRect">
            <a:avLst>
              <a:gd name="adj" fmla="val 2857"/>
            </a:avLst>
          </a:prstGeom>
        </p:spPr>
      </p:pic>
    </p:spTree>
    <p:extLst>
      <p:ext uri="{BB962C8B-B14F-4D97-AF65-F5344CB8AC3E}">
        <p14:creationId xmlns:p14="http://schemas.microsoft.com/office/powerpoint/2010/main" val="480908019"/>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029CB39-EB9F-4E0C-8C16-1480A2B75E5A}"/>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AD412683-3D21-4CDD-A322-A5F9045CD26E}"/>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Ba phương pháp được so sánh</a:t>
            </a:r>
          </a:p>
        </p:txBody>
      </p:sp>
      <p:sp>
        <p:nvSpPr>
          <p:cNvPr id="3" name="">
            <a:extLst xmlns:a="http://schemas.openxmlformats.org/drawingml/2006/main">
              <a:ext uri="{FF2B5EF4-FFF2-40B4-BE49-F238E27FC236}">
                <a16:creationId xmlns:a16="http://schemas.microsoft.com/office/drawing/2014/main" id="{C90B7968-8A86-469F-AAAA-BA9CD3FF3F22}"/>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E2A33E74-FC5F-4831-B934-8EAFB859A8AE}"/>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03BEC21A-5106-4BCF-85B1-44C2617C70D0}"/>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6/14</a:t>
            </a:r>
          </a:p>
        </p:txBody>
      </p:sp>
      <p:graphicFrame>
        <p:nvGraphicFramePr>
          <p:cNvPr id="15" name=""/>
          <p:cNvGraphicFramePr/>
          <p:nvPr/>
        </p:nvGraphicFramePr>
        <p:xfrm>
          <a:off xmlns:a="http://schemas.openxmlformats.org/drawingml/2006/main" x="723900" y="1476375"/>
          <a:ext xmlns:a="http://schemas.openxmlformats.org/drawingml/2006/main" cx="10744200" cy="2095500"/>
        </p:xfrm>
        <a:graphic xmlns:a="http://schemas.openxmlformats.org/drawingml/2006/main">
          <a:graphicData uri="http://schemas.openxmlformats.org/drawingml/2006/table">
            <a:tbl>
              <a:tblPr/>
              <a:tblGrid>
                <a:gridCol w="2452480"/>
                <a:gridCol w="3620328"/>
                <a:gridCol w="4671391"/>
              </a:tblGrid>
              <a:tr h="523875">
                <a:tc>
                  <a:txBody>
                    <a:bodyPr/>
                    <a:lstStyle/>
                    <a:p>
                      <a:r>
                        <a:rPr sz="1200" b="1">
                          <a:solidFill>
                            <a:srgbClr val="FFFFFF"/>
                          </a:solidFill>
                        </a:rPr>
                        <a:t>Phương pháp</a:t>
                      </a:r>
                    </a:p>
                  </a:txBody>
                  <a:tcPr marL="91440" marR="91440" marT="45720" marB="45720">
                    <a:solidFill>
                      <a:srgbClr val="17365D"/>
                    </a:solidFill>
                  </a:tcPr>
                </a:tc>
                <a:tc>
                  <a:txBody>
                    <a:bodyPr/>
                    <a:lstStyle/>
                    <a:p>
                      <a:r>
                        <a:rPr sz="1200" b="1">
                          <a:solidFill>
                            <a:srgbClr val="FFFFFF"/>
                          </a:solidFill>
                        </a:rPr>
                        <a:t>Thành phần chính</a:t>
                      </a:r>
                    </a:p>
                  </a:txBody>
                  <a:tcPr marL="91440" marR="91440" marT="45720" marB="45720">
                    <a:solidFill>
                      <a:srgbClr val="17365D"/>
                    </a:solidFill>
                  </a:tcPr>
                </a:tc>
                <a:tc>
                  <a:txBody>
                    <a:bodyPr/>
                    <a:lstStyle/>
                    <a:p>
                      <a:r>
                        <a:rPr sz="1200" b="1">
                          <a:solidFill>
                            <a:srgbClr val="FFFFFF"/>
                          </a:solidFill>
                        </a:rPr>
                        <a:t>Vai trò trong so sánh</a:t>
                      </a:r>
                    </a:p>
                  </a:txBody>
                  <a:tcPr marL="91440" marR="91440" marT="45720" marB="45720">
                    <a:solidFill>
                      <a:srgbClr val="17365D"/>
                    </a:solidFill>
                  </a:tcPr>
                </a:tc>
              </a:tr>
              <a:tr h="523875">
                <a:tc>
                  <a:txBody>
                    <a:bodyPr/>
                    <a:lstStyle/>
                    <a:p>
                      <a:r>
                        <a:rPr sz="1200">
                          <a:solidFill>
                            <a:srgbClr val="334155"/>
                          </a:solidFill>
                        </a:rPr>
                        <a:t>FedAvg</a:t>
                      </a:r>
                    </a:p>
                  </a:txBody>
                  <a:tcPr marL="91440" marR="91440" marT="45720" marB="45720">
                    <a:solidFill>
                      <a:srgbClr val="FFFFFF"/>
                    </a:solidFill>
                  </a:tcPr>
                </a:tc>
                <a:tc>
                  <a:txBody>
                    <a:bodyPr/>
                    <a:lstStyle/>
                    <a:p>
                      <a:r>
                        <a:rPr sz="1200">
                          <a:solidFill>
                            <a:srgbClr val="334155"/>
                          </a:solidFill>
                        </a:rPr>
                        <a:t>Weighted average theo số mẫu</a:t>
                      </a:r>
                    </a:p>
                  </a:txBody>
                  <a:tcPr marL="91440" marR="91440" marT="45720" marB="45720">
                    <a:solidFill>
                      <a:srgbClr val="FFFFFF"/>
                    </a:solidFill>
                  </a:tcPr>
                </a:tc>
                <a:tc>
                  <a:txBody>
                    <a:bodyPr/>
                    <a:lstStyle/>
                    <a:p>
                      <a:r>
                        <a:rPr sz="1200">
                          <a:solidFill>
                            <a:srgbClr val="334155"/>
                          </a:solidFill>
                        </a:rPr>
                        <a:t>Baseline FL, không xử lý drift, không chống quên.</a:t>
                      </a:r>
                    </a:p>
                  </a:txBody>
                  <a:tcPr marL="91440" marR="91440" marT="45720" marB="45720">
                    <a:solidFill>
                      <a:srgbClr val="FFFFFF"/>
                    </a:solidFill>
                  </a:tcPr>
                </a:tc>
              </a:tr>
              <a:tr h="523875">
                <a:tc>
                  <a:txBody>
                    <a:bodyPr/>
                    <a:lstStyle/>
                    <a:p>
                      <a:r>
                        <a:rPr sz="1200">
                          <a:solidFill>
                            <a:srgbClr val="334155"/>
                          </a:solidFill>
                        </a:rPr>
                        <a:t>FL-MalDrift</a:t>
                      </a:r>
                    </a:p>
                  </a:txBody>
                  <a:tcPr marL="91440" marR="91440" marT="45720" marB="45720">
                    <a:solidFill>
                      <a:srgbClr val="FFFFFF"/>
                    </a:solidFill>
                  </a:tcPr>
                </a:tc>
                <a:tc>
                  <a:txBody>
                    <a:bodyPr/>
                    <a:lstStyle/>
                    <a:p>
                      <a:r>
                        <a:rPr sz="1200">
                          <a:solidFill>
                            <a:srgbClr val="334155"/>
                          </a:solidFill>
                        </a:rPr>
                        <a:t>Drift-aware filtering + weighting</a:t>
                      </a:r>
                    </a:p>
                  </a:txBody>
                  <a:tcPr marL="91440" marR="91440" marT="45720" marB="45720">
                    <a:solidFill>
                      <a:srgbClr val="FFFFFF"/>
                    </a:solidFill>
                  </a:tcPr>
                </a:tc>
                <a:tc>
                  <a:txBody>
                    <a:bodyPr/>
                    <a:lstStyle/>
                    <a:p>
                      <a:r>
                        <a:rPr sz="1200">
                          <a:solidFill>
                            <a:srgbClr val="334155"/>
                          </a:solidFill>
                        </a:rPr>
                        <a:t>Giảm ảnh hưởng client có drift score cao.</a:t>
                      </a:r>
                    </a:p>
                  </a:txBody>
                  <a:tcPr marL="91440" marR="91440" marT="45720" marB="45720">
                    <a:solidFill>
                      <a:srgbClr val="FFFFFF"/>
                    </a:solidFill>
                  </a:tcPr>
                </a:tc>
              </a:tr>
              <a:tr h="523875">
                <a:tc>
                  <a:txBody>
                    <a:bodyPr/>
                    <a:lstStyle/>
                    <a:p>
                      <a:r>
                        <a:rPr sz="1200" b="1">
                          <a:solidFill>
                            <a:srgbClr val="17365D"/>
                          </a:solidFill>
                        </a:rPr>
                        <a:t>FL-CL-MalDrift</a:t>
                      </a:r>
                    </a:p>
                  </a:txBody>
                  <a:tcPr marL="91440" marR="91440" marT="45720" marB="45720">
                    <a:solidFill>
                      <a:srgbClr val="E7F4E8"/>
                    </a:solidFill>
                  </a:tcPr>
                </a:tc>
                <a:tc>
                  <a:txBody>
                    <a:bodyPr/>
                    <a:lstStyle/>
                    <a:p>
                      <a:r>
                        <a:rPr sz="1200" b="1">
                          <a:solidFill>
                            <a:srgbClr val="17365D"/>
                          </a:solidFill>
                        </a:rPr>
                        <a:t>DRC + Replay + EWC + Recovery</a:t>
                      </a:r>
                    </a:p>
                  </a:txBody>
                  <a:tcPr marL="91440" marR="91440" marT="45720" marB="45720">
                    <a:solidFill>
                      <a:srgbClr val="E7F4E8"/>
                    </a:solidFill>
                  </a:tcPr>
                </a:tc>
                <a:tc>
                  <a:txBody>
                    <a:bodyPr/>
                    <a:lstStyle/>
                    <a:p>
                      <a:r>
                        <a:rPr sz="1200" b="1">
                          <a:solidFill>
                            <a:srgbClr val="17365D"/>
                          </a:solidFill>
                        </a:rPr>
                        <a:t>Vừa xử lý drift, vừa giữ tri thức task cũ.</a:t>
                      </a:r>
                    </a:p>
                  </a:txBody>
                  <a:tcPr marL="91440" marR="91440" marT="45720" marB="45720">
                    <a:solidFill>
                      <a:srgbClr val="E7F4E8"/>
                    </a:solidFill>
                  </a:tcPr>
                </a:tc>
              </a:tr>
            </a:tbl>
          </a:graphicData>
        </a:graphic>
      </p:graphicFrame>
      <p:sp>
        <p:nvSpPr>
          <p:cNvPr id="7" name="">
            <a:extLst xmlns:a="http://schemas.openxmlformats.org/drawingml/2006/main">
              <a:ext uri="{FF2B5EF4-FFF2-40B4-BE49-F238E27FC236}">
                <a16:creationId xmlns:a16="http://schemas.microsoft.com/office/drawing/2014/main" id="{3676C411-F846-4057-943A-2C8EA07F6FEB}"/>
              </a:ext>
            </a:extLst>
          </p:cNvPr>
          <p:cNvSpPr>
            <a:spLocks xmlns:a="http://schemas.openxmlformats.org/drawingml/2006/main" noGrp="1"/>
          </p:cNvSpPr>
          <p:nvPr/>
        </p:nvSpPr>
        <p:spPr>
          <a:xfrm xmlns:a="http://schemas.openxmlformats.org/drawingml/2006/main">
            <a:off x="1143000" y="4191000"/>
            <a:ext cx="9906000" cy="1143000"/>
          </a:xfrm>
          <a:prstGeom xmlns:a="http://schemas.openxmlformats.org/drawingml/2006/main" prst="roundRect">
            <a:avLst>
              <a:gd name="adj" fmla="val 10000"/>
            </a:avLst>
          </a:prstGeom>
          <a:solidFill xmlns:a="http://schemas.openxmlformats.org/drawingml/2006/main">
            <a:srgbClr val="FFF3D7"/>
          </a:solidFill>
          <a:ln xmlns:a="http://schemas.openxmlformats.org/drawingml/2006/main" w="9525">
            <a:solidFill>
              <a:srgbClr val="B4530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BD66B268-4FF5-4447-A114-13E8A7EB7A01}"/>
              </a:ext>
            </a:extLst>
          </p:cNvPr>
          <p:cNvSpPr>
            <a:spLocks xmlns:a="http://schemas.openxmlformats.org/drawingml/2006/main" noGrp="1"/>
          </p:cNvSpPr>
          <p:nvPr/>
        </p:nvSpPr>
        <p:spPr>
          <a:xfrm xmlns:a="http://schemas.openxmlformats.org/drawingml/2006/main">
            <a:off x="1352550" y="4362450"/>
            <a:ext cx="948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Ý nghĩa khi trình bày</a:t>
            </a:r>
          </a:p>
        </p:txBody>
      </p:sp>
      <p:sp>
        <p:nvSpPr>
          <p:cNvPr id="9" name="">
            <a:extLst xmlns:a="http://schemas.openxmlformats.org/drawingml/2006/main">
              <a:ext uri="{FF2B5EF4-FFF2-40B4-BE49-F238E27FC236}">
                <a16:creationId xmlns:a16="http://schemas.microsoft.com/office/drawing/2014/main" id="{33318985-7D51-4072-9BC9-8BC9AFE4DFDF}"/>
              </a:ext>
            </a:extLst>
          </p:cNvPr>
          <p:cNvSpPr>
            <a:spLocks xmlns:a="http://schemas.openxmlformats.org/drawingml/2006/main" noGrp="1"/>
          </p:cNvSpPr>
          <p:nvPr/>
        </p:nvSpPr>
        <p:spPr>
          <a:xfrm xmlns:a="http://schemas.openxmlformats.org/drawingml/2006/main">
            <a:off x="1352550" y="4743450"/>
            <a:ext cx="9486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Nếu FL-CL-MalDrift tốt hơn FedAvg và FL-MalDrift, điểm mới không chỉ nằm ở aggregation mà còn nằm ở continual learning: replay giữ dữ liệu cũ, EWC giữ trọng số quan trọng, DRC điều khiển phản ứng với drift.</a:t>
            </a:r>
          </a:p>
        </p:txBody>
      </p:sp>
    </p:spTree>
    <p:extLst>
      <p:ext uri="{BB962C8B-B14F-4D97-AF65-F5344CB8AC3E}">
        <p14:creationId xmlns:p14="http://schemas.microsoft.com/office/powerpoint/2010/main" val="1206966110"/>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394313-8DBB-4470-B059-7A71EF3B4F21}"/>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C2041FC4-2DB5-404F-A382-A8AEAFE514EA}"/>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FL-CL-MalDrift đã cải tiến gì?</a:t>
            </a:r>
          </a:p>
        </p:txBody>
      </p:sp>
      <p:sp>
        <p:nvSpPr>
          <p:cNvPr id="3" name="">
            <a:extLst xmlns:a="http://schemas.openxmlformats.org/drawingml/2006/main">
              <a:ext uri="{FF2B5EF4-FFF2-40B4-BE49-F238E27FC236}">
                <a16:creationId xmlns:a16="http://schemas.microsoft.com/office/drawing/2014/main" id="{7EB00705-804C-44B1-A106-1506E8570E50}"/>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E272F33B-520B-4564-AA17-39A461891D30}"/>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F3537282-4946-4A88-AB6A-75121A11CB8F}"/>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7/14</a:t>
            </a:r>
          </a:p>
        </p:txBody>
      </p:sp>
      <p:sp>
        <p:nvSpPr>
          <p:cNvPr id="6" name="">
            <a:extLst xmlns:a="http://schemas.openxmlformats.org/drawingml/2006/main">
              <a:ext uri="{FF2B5EF4-FFF2-40B4-BE49-F238E27FC236}">
                <a16:creationId xmlns:a16="http://schemas.microsoft.com/office/drawing/2014/main" id="{06D4ACEF-034B-4C5B-8E62-A95662308AE2}"/>
              </a:ext>
            </a:extLst>
          </p:cNvPr>
          <p:cNvSpPr>
            <a:spLocks xmlns:a="http://schemas.openxmlformats.org/drawingml/2006/main" noGrp="1"/>
          </p:cNvSpPr>
          <p:nvPr/>
        </p:nvSpPr>
        <p:spPr>
          <a:xfrm xmlns:a="http://schemas.openxmlformats.org/drawingml/2006/main">
            <a:off x="762000" y="1476375"/>
            <a:ext cx="4762500" cy="1409700"/>
          </a:xfrm>
          <a:prstGeom xmlns:a="http://schemas.openxmlformats.org/drawingml/2006/main" prst="roundRect">
            <a:avLst>
              <a:gd name="adj" fmla="val 8108"/>
            </a:avLst>
          </a:prstGeom>
          <a:solidFill xmlns:a="http://schemas.openxmlformats.org/drawingml/2006/main">
            <a:srgbClr val="D9EAF7"/>
          </a:solidFill>
          <a:ln xmlns:a="http://schemas.openxmlformats.org/drawingml/2006/main" w="9525">
            <a:solidFill>
              <a:srgbClr val="2F559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71CCA26B-30EA-4209-BFED-2B162F007097}"/>
              </a:ext>
            </a:extLst>
          </p:cNvPr>
          <p:cNvSpPr>
            <a:spLocks xmlns:a="http://schemas.openxmlformats.org/drawingml/2006/main" noGrp="1"/>
          </p:cNvSpPr>
          <p:nvPr/>
        </p:nvSpPr>
        <p:spPr>
          <a:xfrm xmlns:a="http://schemas.openxmlformats.org/drawingml/2006/main">
            <a:off x="971550" y="1647825"/>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F5597"/>
                </a:solidFill>
              </a:defRPr>
            </a:pPr>
            <a:r>
              <a:rPr sz="1650" b="1">
                <a:solidFill>
                  <a:srgbClr val="2F5597"/>
                </a:solidFill>
              </a:rPr>
              <a:t>DRC</a:t>
            </a:r>
          </a:p>
        </p:txBody>
      </p:sp>
      <p:sp>
        <p:nvSpPr>
          <p:cNvPr id="8" name="">
            <a:extLst xmlns:a="http://schemas.openxmlformats.org/drawingml/2006/main">
              <a:ext uri="{FF2B5EF4-FFF2-40B4-BE49-F238E27FC236}">
                <a16:creationId xmlns:a16="http://schemas.microsoft.com/office/drawing/2014/main" id="{67235C84-5F8F-4B63-BA34-2674EB8B7D06}"/>
              </a:ext>
            </a:extLst>
          </p:cNvPr>
          <p:cNvSpPr>
            <a:spLocks xmlns:a="http://schemas.openxmlformats.org/drawingml/2006/main" noGrp="1"/>
          </p:cNvSpPr>
          <p:nvPr/>
        </p:nvSpPr>
        <p:spPr>
          <a:xfrm xmlns:a="http://schemas.openxmlformats.org/drawingml/2006/main">
            <a:off x="971550" y="2028825"/>
            <a:ext cx="4343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Stable -&gt; Replay -&gt; EWC -&gt; Escalation -&gt; Recovery</a:t>
            </a:r>
          </a:p>
          <a:p xmlns:a="http://schemas.openxmlformats.org/drawingml/2006/main">
            <a:pPr algn="l">
              <a:defRPr sz="1350" b="0">
                <a:solidFill>
                  <a:srgbClr val="334155"/>
                </a:solidFill>
              </a:defRPr>
            </a:pPr>
            <a:r>
              <a:rPr sz="1350" b="0">
                <a:solidFill>
                  <a:srgbClr val="334155"/>
                </a:solidFill>
              </a:rPr>
              <a:t>Điều khiển phản ứng theo mức drift.</a:t>
            </a:r>
          </a:p>
        </p:txBody>
      </p:sp>
      <p:sp>
        <p:nvSpPr>
          <p:cNvPr id="9" name="">
            <a:extLst xmlns:a="http://schemas.openxmlformats.org/drawingml/2006/main">
              <a:ext uri="{FF2B5EF4-FFF2-40B4-BE49-F238E27FC236}">
                <a16:creationId xmlns:a16="http://schemas.microsoft.com/office/drawing/2014/main" id="{277885DB-99C1-4064-AA0A-273E9D8E5DA9}"/>
              </a:ext>
            </a:extLst>
          </p:cNvPr>
          <p:cNvSpPr>
            <a:spLocks xmlns:a="http://schemas.openxmlformats.org/drawingml/2006/main" noGrp="1"/>
          </p:cNvSpPr>
          <p:nvPr/>
        </p:nvSpPr>
        <p:spPr>
          <a:xfrm xmlns:a="http://schemas.openxmlformats.org/drawingml/2006/main">
            <a:off x="6286500" y="1476375"/>
            <a:ext cx="4762500" cy="1409700"/>
          </a:xfrm>
          <a:prstGeom xmlns:a="http://schemas.openxmlformats.org/drawingml/2006/main" prst="roundRect">
            <a:avLst>
              <a:gd name="adj" fmla="val 8108"/>
            </a:avLst>
          </a:prstGeom>
          <a:solidFill xmlns:a="http://schemas.openxmlformats.org/drawingml/2006/main">
            <a:srgbClr val="E7F4E8"/>
          </a:solidFill>
          <a:ln xmlns:a="http://schemas.openxmlformats.org/drawingml/2006/main" w="9525">
            <a:solidFill>
              <a:srgbClr val="2E7D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CF6056E7-AE44-445E-B1C0-AD78BC926197}"/>
              </a:ext>
            </a:extLst>
          </p:cNvPr>
          <p:cNvSpPr>
            <a:spLocks xmlns:a="http://schemas.openxmlformats.org/drawingml/2006/main" noGrp="1"/>
          </p:cNvSpPr>
          <p:nvPr/>
        </p:nvSpPr>
        <p:spPr>
          <a:xfrm xmlns:a="http://schemas.openxmlformats.org/drawingml/2006/main">
            <a:off x="6496050" y="1647825"/>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E7D32"/>
                </a:solidFill>
              </a:defRPr>
            </a:pPr>
            <a:r>
              <a:rPr sz="1650" b="1">
                <a:solidFill>
                  <a:srgbClr val="2E7D32"/>
                </a:solidFill>
              </a:rPr>
              <a:t>Replay Buffer</a:t>
            </a:r>
          </a:p>
        </p:txBody>
      </p:sp>
      <p:sp>
        <p:nvSpPr>
          <p:cNvPr id="11" name="">
            <a:extLst xmlns:a="http://schemas.openxmlformats.org/drawingml/2006/main">
              <a:ext uri="{FF2B5EF4-FFF2-40B4-BE49-F238E27FC236}">
                <a16:creationId xmlns:a16="http://schemas.microsoft.com/office/drawing/2014/main" id="{4205E63C-49EE-4864-B5C2-AD6C42D7C2C6}"/>
              </a:ext>
            </a:extLst>
          </p:cNvPr>
          <p:cNvSpPr>
            <a:spLocks xmlns:a="http://schemas.openxmlformats.org/drawingml/2006/main" noGrp="1"/>
          </p:cNvSpPr>
          <p:nvPr/>
        </p:nvSpPr>
        <p:spPr>
          <a:xfrm xmlns:a="http://schemas.openxmlformats.org/drawingml/2006/main">
            <a:off x="6496050" y="2028825"/>
            <a:ext cx="4343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Lưu mẫu cũ bằng reservoir sampling.</a:t>
            </a:r>
          </a:p>
          <a:p xmlns:a="http://schemas.openxmlformats.org/drawingml/2006/main">
            <a:pPr algn="l">
              <a:defRPr sz="1350" b="0">
                <a:solidFill>
                  <a:srgbClr val="334155"/>
                </a:solidFill>
              </a:defRPr>
            </a:pPr>
            <a:r>
              <a:rPr sz="1350" b="0">
                <a:solidFill>
                  <a:srgbClr val="334155"/>
                </a:solidFill>
              </a:rPr>
              <a:t>Giảm quên khi học task mới.</a:t>
            </a:r>
          </a:p>
        </p:txBody>
      </p:sp>
      <p:sp>
        <p:nvSpPr>
          <p:cNvPr id="12" name="">
            <a:extLst xmlns:a="http://schemas.openxmlformats.org/drawingml/2006/main">
              <a:ext uri="{FF2B5EF4-FFF2-40B4-BE49-F238E27FC236}">
                <a16:creationId xmlns:a16="http://schemas.microsoft.com/office/drawing/2014/main" id="{E03D1B7F-7745-4971-92A3-30D1A3B1AF4F}"/>
              </a:ext>
            </a:extLst>
          </p:cNvPr>
          <p:cNvSpPr>
            <a:spLocks xmlns:a="http://schemas.openxmlformats.org/drawingml/2006/main" noGrp="1"/>
          </p:cNvSpPr>
          <p:nvPr/>
        </p:nvSpPr>
        <p:spPr>
          <a:xfrm xmlns:a="http://schemas.openxmlformats.org/drawingml/2006/main">
            <a:off x="762000" y="3286125"/>
            <a:ext cx="4762500" cy="1409700"/>
          </a:xfrm>
          <a:prstGeom xmlns:a="http://schemas.openxmlformats.org/drawingml/2006/main" prst="roundRect">
            <a:avLst>
              <a:gd name="adj" fmla="val 8108"/>
            </a:avLst>
          </a:prstGeom>
          <a:solidFill xmlns:a="http://schemas.openxmlformats.org/drawingml/2006/main">
            <a:srgbClr val="FFF3D7"/>
          </a:solidFill>
          <a:ln xmlns:a="http://schemas.openxmlformats.org/drawingml/2006/main" w="9525">
            <a:solidFill>
              <a:srgbClr val="B4530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6DF3C93D-1C7B-427C-868A-C2EBB4C44DDD}"/>
              </a:ext>
            </a:extLst>
          </p:cNvPr>
          <p:cNvSpPr>
            <a:spLocks xmlns:a="http://schemas.openxmlformats.org/drawingml/2006/main" noGrp="1"/>
          </p:cNvSpPr>
          <p:nvPr/>
        </p:nvSpPr>
        <p:spPr>
          <a:xfrm xmlns:a="http://schemas.openxmlformats.org/drawingml/2006/main">
            <a:off x="971550" y="3457575"/>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B45309"/>
                </a:solidFill>
              </a:defRPr>
            </a:pPr>
            <a:r>
              <a:rPr sz="1650" b="1">
                <a:solidFill>
                  <a:srgbClr val="B45309"/>
                </a:solidFill>
              </a:rPr>
              <a:t>EWC</a:t>
            </a:r>
          </a:p>
        </p:txBody>
      </p:sp>
      <p:sp>
        <p:nvSpPr>
          <p:cNvPr id="14" name="">
            <a:extLst xmlns:a="http://schemas.openxmlformats.org/drawingml/2006/main">
              <a:ext uri="{FF2B5EF4-FFF2-40B4-BE49-F238E27FC236}">
                <a16:creationId xmlns:a16="http://schemas.microsoft.com/office/drawing/2014/main" id="{47EDE168-5028-4A9D-9F27-369287688D8B}"/>
              </a:ext>
            </a:extLst>
          </p:cNvPr>
          <p:cNvSpPr>
            <a:spLocks xmlns:a="http://schemas.openxmlformats.org/drawingml/2006/main" noGrp="1"/>
          </p:cNvSpPr>
          <p:nvPr/>
        </p:nvSpPr>
        <p:spPr>
          <a:xfrm xmlns:a="http://schemas.openxmlformats.org/drawingml/2006/main">
            <a:off x="971550" y="3838575"/>
            <a:ext cx="4343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Phạt thay đổi trọng số quan trọng.</a:t>
            </a:r>
          </a:p>
          <a:p xmlns:a="http://schemas.openxmlformats.org/drawingml/2006/main">
            <a:pPr algn="l">
              <a:defRPr sz="1350" b="0">
                <a:solidFill>
                  <a:srgbClr val="334155"/>
                </a:solidFill>
              </a:defRPr>
            </a:pPr>
            <a:r>
              <a:rPr sz="1350" b="0">
                <a:solidFill>
                  <a:srgbClr val="334155"/>
                </a:solidFill>
              </a:rPr>
              <a:t>Bảo vệ tri thức của task trước.</a:t>
            </a:r>
          </a:p>
        </p:txBody>
      </p:sp>
      <p:sp>
        <p:nvSpPr>
          <p:cNvPr id="15" name="">
            <a:extLst xmlns:a="http://schemas.openxmlformats.org/drawingml/2006/main">
              <a:ext uri="{FF2B5EF4-FFF2-40B4-BE49-F238E27FC236}">
                <a16:creationId xmlns:a16="http://schemas.microsoft.com/office/drawing/2014/main" id="{6ADC2DE5-7B6A-4042-BBB9-CF81CDAEBD8C}"/>
              </a:ext>
            </a:extLst>
          </p:cNvPr>
          <p:cNvSpPr>
            <a:spLocks xmlns:a="http://schemas.openxmlformats.org/drawingml/2006/main" noGrp="1"/>
          </p:cNvSpPr>
          <p:nvPr/>
        </p:nvSpPr>
        <p:spPr>
          <a:xfrm xmlns:a="http://schemas.openxmlformats.org/drawingml/2006/main">
            <a:off x="6286500" y="3286125"/>
            <a:ext cx="4762500" cy="1409700"/>
          </a:xfrm>
          <a:prstGeom xmlns:a="http://schemas.openxmlformats.org/drawingml/2006/main" prst="roundRect">
            <a:avLst>
              <a:gd name="adj" fmla="val 8108"/>
            </a:avLst>
          </a:prstGeom>
          <a:solidFill xmlns:a="http://schemas.openxmlformats.org/drawingml/2006/main">
            <a:srgbClr val="EFE7F6"/>
          </a:solidFill>
          <a:ln xmlns:a="http://schemas.openxmlformats.org/drawingml/2006/main" w="9525">
            <a:solidFill>
              <a:srgbClr val="5B2C83"/>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E16A9BFD-67BE-41C4-B066-3000C5457F96}"/>
              </a:ext>
            </a:extLst>
          </p:cNvPr>
          <p:cNvSpPr>
            <a:spLocks xmlns:a="http://schemas.openxmlformats.org/drawingml/2006/main" noGrp="1"/>
          </p:cNvSpPr>
          <p:nvPr/>
        </p:nvSpPr>
        <p:spPr>
          <a:xfrm xmlns:a="http://schemas.openxmlformats.org/drawingml/2006/main">
            <a:off x="6496050" y="3457575"/>
            <a:ext cx="434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5B2C83"/>
                </a:solidFill>
              </a:defRPr>
            </a:pPr>
            <a:r>
              <a:rPr sz="1650" b="1">
                <a:solidFill>
                  <a:srgbClr val="5B2C83"/>
                </a:solidFill>
              </a:rPr>
              <a:t>Recovery Monitor</a:t>
            </a:r>
          </a:p>
        </p:txBody>
      </p:sp>
      <p:sp>
        <p:nvSpPr>
          <p:cNvPr id="17" name="">
            <a:extLst xmlns:a="http://schemas.openxmlformats.org/drawingml/2006/main">
              <a:ext uri="{FF2B5EF4-FFF2-40B4-BE49-F238E27FC236}">
                <a16:creationId xmlns:a16="http://schemas.microsoft.com/office/drawing/2014/main" id="{085E4CD0-C671-47E1-B16B-28CB03E912B9}"/>
              </a:ext>
            </a:extLst>
          </p:cNvPr>
          <p:cNvSpPr>
            <a:spLocks xmlns:a="http://schemas.openxmlformats.org/drawingml/2006/main" noGrp="1"/>
          </p:cNvSpPr>
          <p:nvPr/>
        </p:nvSpPr>
        <p:spPr>
          <a:xfrm xmlns:a="http://schemas.openxmlformats.org/drawingml/2006/main">
            <a:off x="6496050" y="3838575"/>
            <a:ext cx="4343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Theo dõi EMA drift score.</a:t>
            </a:r>
          </a:p>
          <a:p xmlns:a="http://schemas.openxmlformats.org/drawingml/2006/main">
            <a:pPr algn="l">
              <a:defRPr sz="1350" b="0">
                <a:solidFill>
                  <a:srgbClr val="334155"/>
                </a:solidFill>
              </a:defRPr>
            </a:pPr>
            <a:r>
              <a:rPr sz="1350" b="0">
                <a:solidFill>
                  <a:srgbClr val="334155"/>
                </a:solidFill>
              </a:rPr>
              <a:t>Cho client quay lại nếu ổn định.</a:t>
            </a:r>
          </a:p>
        </p:txBody>
      </p:sp>
      <p:sp>
        <p:nvSpPr>
          <p:cNvPr id="18" name="">
            <a:extLst xmlns:a="http://schemas.openxmlformats.org/drawingml/2006/main">
              <a:ext uri="{FF2B5EF4-FFF2-40B4-BE49-F238E27FC236}">
                <a16:creationId xmlns:a16="http://schemas.microsoft.com/office/drawing/2014/main" id="{4871F0D3-59A8-4477-BA59-C7F9B05B8118}"/>
              </a:ext>
            </a:extLst>
          </p:cNvPr>
          <p:cNvSpPr>
            <a:spLocks xmlns:a="http://schemas.openxmlformats.org/drawingml/2006/main" noGrp="1"/>
          </p:cNvSpPr>
          <p:nvPr/>
        </p:nvSpPr>
        <p:spPr>
          <a:xfrm xmlns:a="http://schemas.openxmlformats.org/drawingml/2006/main">
            <a:off x="1066800" y="54292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7365D"/>
                </a:solidFill>
              </a:defRPr>
            </a:pPr>
            <a:r>
              <a:rPr sz="1650" b="1">
                <a:solidFill>
                  <a:srgbClr val="17365D"/>
                </a:solidFill>
              </a:rPr>
              <a:t>Kết hợp các phần này giúp FL-CL-MalDrift tập trung vào hai mục tiêu: thích nghi với malware mới và không quên malware cũ.</a:t>
            </a:r>
          </a:p>
        </p:txBody>
      </p:sp>
    </p:spTree>
    <p:extLst>
      <p:ext uri="{BB962C8B-B14F-4D97-AF65-F5344CB8AC3E}">
        <p14:creationId xmlns:p14="http://schemas.microsoft.com/office/powerpoint/2010/main" val="562561781"/>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AC31D8D-1E41-4B7D-87E9-FA8999DDC63D}"/>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518BB769-F648-4B16-A103-17776A8165C4}"/>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Ngưỡng drift và tham số chính</a:t>
            </a:r>
          </a:p>
        </p:txBody>
      </p:sp>
      <p:sp>
        <p:nvSpPr>
          <p:cNvPr id="3" name="">
            <a:extLst xmlns:a="http://schemas.openxmlformats.org/drawingml/2006/main">
              <a:ext uri="{FF2B5EF4-FFF2-40B4-BE49-F238E27FC236}">
                <a16:creationId xmlns:a16="http://schemas.microsoft.com/office/drawing/2014/main" id="{9D516E27-D752-4FBC-9BA0-E9C1998BA092}"/>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9BD767DB-12FF-424A-8F91-D4C2E929CFAA}"/>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CB2DDD67-0E7F-4611-A958-2B0CA78DF740}"/>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8/14</a:t>
            </a:r>
          </a:p>
        </p:txBody>
      </p:sp>
      <p:sp>
        <p:nvSpPr>
          <p:cNvPr id="6" name="">
            <a:extLst xmlns:a="http://schemas.openxmlformats.org/drawingml/2006/main">
              <a:ext uri="{FF2B5EF4-FFF2-40B4-BE49-F238E27FC236}">
                <a16:creationId xmlns:a16="http://schemas.microsoft.com/office/drawing/2014/main" id="{BDCDFC27-E2FA-4CDD-840B-2EF60B350856}"/>
              </a:ext>
            </a:extLst>
          </p:cNvPr>
          <p:cNvSpPr>
            <a:spLocks xmlns:a="http://schemas.openxmlformats.org/drawingml/2006/main" noGrp="1"/>
          </p:cNvSpPr>
          <p:nvPr/>
        </p:nvSpPr>
        <p:spPr>
          <a:xfrm xmlns:a="http://schemas.openxmlformats.org/drawingml/2006/main">
            <a:off x="742950" y="1428750"/>
            <a:ext cx="5143500" cy="247650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CF80895-EBB8-4E0F-BEB7-176BF0D1A31A}"/>
              </a:ext>
            </a:extLst>
          </p:cNvPr>
          <p:cNvSpPr>
            <a:spLocks xmlns:a="http://schemas.openxmlformats.org/drawingml/2006/main" noGrp="1"/>
          </p:cNvSpPr>
          <p:nvPr/>
        </p:nvSpPr>
        <p:spPr>
          <a:xfrm xmlns:a="http://schemas.openxmlformats.org/drawingml/2006/main">
            <a:off x="952500" y="1600200"/>
            <a:ext cx="472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Ngưỡng drift tau</a:t>
            </a:r>
          </a:p>
        </p:txBody>
      </p:sp>
      <p:sp>
        <p:nvSpPr>
          <p:cNvPr id="8" name="">
            <a:extLst xmlns:a="http://schemas.openxmlformats.org/drawingml/2006/main">
              <a:ext uri="{FF2B5EF4-FFF2-40B4-BE49-F238E27FC236}">
                <a16:creationId xmlns:a16="http://schemas.microsoft.com/office/drawing/2014/main" id="{BD2D1E7C-5FF9-40F1-9B04-41E7AA2D0C1E}"/>
              </a:ext>
            </a:extLst>
          </p:cNvPr>
          <p:cNvSpPr>
            <a:spLocks xmlns:a="http://schemas.openxmlformats.org/drawingml/2006/main" noGrp="1"/>
          </p:cNvSpPr>
          <p:nvPr/>
        </p:nvSpPr>
        <p:spPr>
          <a:xfrm xmlns:a="http://schemas.openxmlformats.org/drawingml/2006/main">
            <a:off x="952500" y="1981200"/>
            <a:ext cx="47244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Trong code hiện tại, tau là ngưỡng lai:</a:t>
            </a:r>
          </a:p>
          <a:p xmlns:a="http://schemas.openxmlformats.org/drawingml/2006/main">
            <a:r>
              <a:t/>
            </a:r>
          </a:p>
          <a:p xmlns:a="http://schemas.openxmlformats.org/drawingml/2006/main">
            <a:pPr algn="l">
              <a:defRPr sz="1350" b="0">
                <a:solidFill>
                  <a:srgbClr val="334155"/>
                </a:solidFill>
              </a:defRPr>
            </a:pPr>
            <a:r>
              <a:rPr sz="1350" b="0">
                <a:solidFill>
                  <a:srgbClr val="334155"/>
                </a:solidFill>
              </a:rPr>
              <a:t>- tau_init và tau_min được đặt từ lệnh chạy.</a:t>
            </a:r>
          </a:p>
          <a:p xmlns:a="http://schemas.openxmlformats.org/drawingml/2006/main">
            <a:pPr algn="l">
              <a:defRPr sz="1350" b="0">
                <a:solidFill>
                  <a:srgbClr val="334155"/>
                </a:solidFill>
              </a:defRPr>
            </a:pPr>
            <a:r>
              <a:rPr sz="1350" b="0">
                <a:solidFill>
                  <a:srgbClr val="334155"/>
                </a:solidFill>
              </a:rPr>
              <a:t>- Sau đó tau được cập nhật theo thống kê drift score, có làm mượt bằng EWMA.</a:t>
            </a:r>
          </a:p>
          <a:p xmlns:a="http://schemas.openxmlformats.org/drawingml/2006/main">
            <a:r>
              <a:t/>
            </a:r>
          </a:p>
          <a:p xmlns:a="http://schemas.openxmlformats.org/drawingml/2006/main">
            <a:pPr algn="l">
              <a:defRPr sz="1350" b="0">
                <a:solidFill>
                  <a:srgbClr val="334155"/>
                </a:solidFill>
              </a:defRPr>
            </a:pPr>
            <a:r>
              <a:rPr sz="1350" b="0">
                <a:solidFill>
                  <a:srgbClr val="334155"/>
                </a:solidFill>
              </a:rPr>
              <a:t>Vì vậy tau không hoàn toàn cố định, nhưng cũng không học tự do như tham số model.</a:t>
            </a:r>
          </a:p>
        </p:txBody>
      </p:sp>
      <p:graphicFrame>
        <p:nvGraphicFramePr>
          <p:cNvPr id="21" name=""/>
          <p:cNvGraphicFramePr/>
          <p:nvPr/>
        </p:nvGraphicFramePr>
        <p:xfrm>
          <a:off xmlns:a="http://schemas.openxmlformats.org/drawingml/2006/main" x="6477000" y="1428750"/>
          <a:ext xmlns:a="http://schemas.openxmlformats.org/drawingml/2006/main" cx="4762500" cy="2476500"/>
        </p:xfrm>
        <a:graphic xmlns:a="http://schemas.openxmlformats.org/drawingml/2006/main">
          <a:graphicData uri="http://schemas.openxmlformats.org/drawingml/2006/table">
            <a:tbl>
              <a:tblPr/>
              <a:tblGrid>
                <a:gridCol w="1218314"/>
                <a:gridCol w="886047"/>
                <a:gridCol w="2658140"/>
              </a:tblGrid>
              <a:tr h="412750">
                <a:tc>
                  <a:txBody>
                    <a:bodyPr/>
                    <a:lstStyle/>
                    <a:p>
                      <a:r>
                        <a:rPr sz="1200" b="1">
                          <a:solidFill>
                            <a:srgbClr val="FFFFFF"/>
                          </a:solidFill>
                        </a:rPr>
                        <a:t>Tham số</a:t>
                      </a:r>
                    </a:p>
                  </a:txBody>
                  <a:tcPr marL="91440" marR="91440" marT="45720" marB="45720">
                    <a:solidFill>
                      <a:srgbClr val="17365D"/>
                    </a:solidFill>
                  </a:tcPr>
                </a:tc>
                <a:tc>
                  <a:txBody>
                    <a:bodyPr/>
                    <a:lstStyle/>
                    <a:p>
                      <a:r>
                        <a:rPr sz="1200" b="1">
                          <a:solidFill>
                            <a:srgbClr val="FFFFFF"/>
                          </a:solidFill>
                        </a:rPr>
                        <a:t>Giá trị</a:t>
                      </a:r>
                    </a:p>
                  </a:txBody>
                  <a:tcPr marL="91440" marR="91440" marT="45720" marB="45720">
                    <a:solidFill>
                      <a:srgbClr val="17365D"/>
                    </a:solidFill>
                  </a:tcPr>
                </a:tc>
                <a:tc>
                  <a:txBody>
                    <a:bodyPr/>
                    <a:lstStyle/>
                    <a:p>
                      <a:r>
                        <a:rPr sz="1200" b="1">
                          <a:solidFill>
                            <a:srgbClr val="FFFFFF"/>
                          </a:solidFill>
                        </a:rPr>
                        <a:t>Ý nghĩa</a:t>
                      </a:r>
                    </a:p>
                  </a:txBody>
                  <a:tcPr marL="91440" marR="91440" marT="45720" marB="45720">
                    <a:solidFill>
                      <a:srgbClr val="17365D"/>
                    </a:solidFill>
                  </a:tcPr>
                </a:tc>
              </a:tr>
              <a:tr h="412750">
                <a:tc>
                  <a:txBody>
                    <a:bodyPr/>
                    <a:lstStyle/>
                    <a:p>
                      <a:r>
                        <a:rPr sz="1200">
                          <a:solidFill>
                            <a:srgbClr val="334155"/>
                          </a:solidFill>
                        </a:rPr>
                        <a:t>K1</a:t>
                      </a:r>
                    </a:p>
                  </a:txBody>
                  <a:tcPr marL="91440" marR="91440" marT="45720" marB="45720">
                    <a:solidFill>
                      <a:srgbClr val="FFFFFF"/>
                    </a:solidFill>
                  </a:tcPr>
                </a:tc>
                <a:tc>
                  <a:txBody>
                    <a:bodyPr/>
                    <a:lstStyle/>
                    <a:p>
                      <a:r>
                        <a:rPr sz="1200">
                          <a:solidFill>
                            <a:srgbClr val="334155"/>
                          </a:solidFill>
                        </a:rPr>
                        <a:t>3</a:t>
                      </a:r>
                    </a:p>
                  </a:txBody>
                  <a:tcPr marL="91440" marR="91440" marT="45720" marB="45720">
                    <a:solidFill>
                      <a:srgbClr val="FFFFFF"/>
                    </a:solidFill>
                  </a:tcPr>
                </a:tc>
                <a:tc>
                  <a:txBody>
                    <a:bodyPr/>
                    <a:lstStyle/>
                    <a:p>
                      <a:r>
                        <a:rPr sz="1200">
                          <a:solidFill>
                            <a:srgbClr val="334155"/>
                          </a:solidFill>
                        </a:rPr>
                        <a:t>Số round drift liên tiếp để kích hoạt Replay.</a:t>
                      </a:r>
                    </a:p>
                  </a:txBody>
                  <a:tcPr marL="91440" marR="91440" marT="45720" marB="45720">
                    <a:solidFill>
                      <a:srgbClr val="FFFFFF"/>
                    </a:solidFill>
                  </a:tcPr>
                </a:tc>
              </a:tr>
              <a:tr h="412750">
                <a:tc>
                  <a:txBody>
                    <a:bodyPr/>
                    <a:lstStyle/>
                    <a:p>
                      <a:r>
                        <a:rPr sz="1200">
                          <a:solidFill>
                            <a:srgbClr val="334155"/>
                          </a:solidFill>
                        </a:rPr>
                        <a:t>K2</a:t>
                      </a:r>
                    </a:p>
                  </a:txBody>
                  <a:tcPr marL="91440" marR="91440" marT="45720" marB="45720">
                    <a:solidFill>
                      <a:srgbClr val="FFFFFF"/>
                    </a:solidFill>
                  </a:tcPr>
                </a:tc>
                <a:tc>
                  <a:txBody>
                    <a:bodyPr/>
                    <a:lstStyle/>
                    <a:p>
                      <a:r>
                        <a:rPr sz="1200">
                          <a:solidFill>
                            <a:srgbClr val="334155"/>
                          </a:solidFill>
                        </a:rPr>
                        <a:t>8</a:t>
                      </a:r>
                    </a:p>
                  </a:txBody>
                  <a:tcPr marL="91440" marR="91440" marT="45720" marB="45720">
                    <a:solidFill>
                      <a:srgbClr val="FFFFFF"/>
                    </a:solidFill>
                  </a:tcPr>
                </a:tc>
                <a:tc>
                  <a:txBody>
                    <a:bodyPr/>
                    <a:lstStyle/>
                    <a:p>
                      <a:r>
                        <a:rPr sz="1200">
                          <a:solidFill>
                            <a:srgbClr val="334155"/>
                          </a:solidFill>
                        </a:rPr>
                        <a:t>Nếu drift kéo dài, chuyển sang Escalation.</a:t>
                      </a:r>
                    </a:p>
                  </a:txBody>
                  <a:tcPr marL="91440" marR="91440" marT="45720" marB="45720">
                    <a:solidFill>
                      <a:srgbClr val="FFFFFF"/>
                    </a:solidFill>
                  </a:tcPr>
                </a:tc>
              </a:tr>
              <a:tr h="412750">
                <a:tc>
                  <a:txBody>
                    <a:bodyPr/>
                    <a:lstStyle/>
                    <a:p>
                      <a:r>
                        <a:rPr sz="1200">
                          <a:solidFill>
                            <a:srgbClr val="334155"/>
                          </a:solidFill>
                        </a:rPr>
                        <a:t>R</a:t>
                      </a:r>
                    </a:p>
                  </a:txBody>
                  <a:tcPr marL="91440" marR="91440" marT="45720" marB="45720">
                    <a:solidFill>
                      <a:srgbClr val="FFFFFF"/>
                    </a:solidFill>
                  </a:tcPr>
                </a:tc>
                <a:tc>
                  <a:txBody>
                    <a:bodyPr/>
                    <a:lstStyle/>
                    <a:p>
                      <a:r>
                        <a:rPr sz="1200">
                          <a:solidFill>
                            <a:srgbClr val="334155"/>
                          </a:solidFill>
                        </a:rPr>
                        <a:t>3</a:t>
                      </a:r>
                    </a:p>
                  </a:txBody>
                  <a:tcPr marL="91440" marR="91440" marT="45720" marB="45720">
                    <a:solidFill>
                      <a:srgbClr val="FFFFFF"/>
                    </a:solidFill>
                  </a:tcPr>
                </a:tc>
                <a:tc>
                  <a:txBody>
                    <a:bodyPr/>
                    <a:lstStyle/>
                    <a:p>
                      <a:r>
                        <a:rPr sz="1200">
                          <a:solidFill>
                            <a:srgbClr val="334155"/>
                          </a:solidFill>
                        </a:rPr>
                        <a:t>Số round ổn định để Recovery.</a:t>
                      </a:r>
                    </a:p>
                  </a:txBody>
                  <a:tcPr marL="91440" marR="91440" marT="45720" marB="45720">
                    <a:solidFill>
                      <a:srgbClr val="FFFFFF"/>
                    </a:solidFill>
                  </a:tcPr>
                </a:tc>
              </a:tr>
              <a:tr h="412750">
                <a:tc>
                  <a:txBody>
                    <a:bodyPr/>
                    <a:lstStyle/>
                    <a:p>
                      <a:r>
                        <a:rPr sz="1200">
                          <a:solidFill>
                            <a:srgbClr val="334155"/>
                          </a:solidFill>
                        </a:rPr>
                        <a:t>K-Fold</a:t>
                      </a:r>
                    </a:p>
                  </a:txBody>
                  <a:tcPr marL="91440" marR="91440" marT="45720" marB="45720">
                    <a:solidFill>
                      <a:srgbClr val="FFFFFF"/>
                    </a:solidFill>
                  </a:tcPr>
                </a:tc>
                <a:tc>
                  <a:txBody>
                    <a:bodyPr/>
                    <a:lstStyle/>
                    <a:p>
                      <a:r>
                        <a:rPr sz="1200">
                          <a:solidFill>
                            <a:srgbClr val="334155"/>
                          </a:solidFill>
                        </a:rPr>
                        <a:t>5</a:t>
                      </a:r>
                    </a:p>
                  </a:txBody>
                  <a:tcPr marL="91440" marR="91440" marT="45720" marB="45720">
                    <a:solidFill>
                      <a:srgbClr val="FFFFFF"/>
                    </a:solidFill>
                  </a:tcPr>
                </a:tc>
                <a:tc>
                  <a:txBody>
                    <a:bodyPr/>
                    <a:lstStyle/>
                    <a:p>
                      <a:r>
                        <a:rPr sz="1200">
                          <a:solidFill>
                            <a:srgbClr val="334155"/>
                          </a:solidFill>
                        </a:rPr>
                        <a:t>5 lần thực nghiệm độc lập.</a:t>
                      </a:r>
                    </a:p>
                  </a:txBody>
                  <a:tcPr marL="91440" marR="91440" marT="45720" marB="45720">
                    <a:solidFill>
                      <a:srgbClr val="FFFFFF"/>
                    </a:solidFill>
                  </a:tcPr>
                </a:tc>
              </a:tr>
              <a:tr h="412750">
                <a:tc>
                  <a:txBody>
                    <a:bodyPr/>
                    <a:lstStyle/>
                    <a:p>
                      <a:r>
                        <a:rPr sz="1200">
                          <a:solidFill>
                            <a:srgbClr val="334155"/>
                          </a:solidFill>
                        </a:rPr>
                        <a:t>dominant_ratio</a:t>
                      </a:r>
                    </a:p>
                  </a:txBody>
                  <a:tcPr marL="91440" marR="91440" marT="45720" marB="45720">
                    <a:solidFill>
                      <a:srgbClr val="FFFFFF"/>
                    </a:solidFill>
                  </a:tcPr>
                </a:tc>
                <a:tc>
                  <a:txBody>
                    <a:bodyPr/>
                    <a:lstStyle/>
                    <a:p>
                      <a:r>
                        <a:rPr sz="1200">
                          <a:solidFill>
                            <a:srgbClr val="334155"/>
                          </a:solidFill>
                        </a:rPr>
                        <a:t>0.90</a:t>
                      </a:r>
                    </a:p>
                  </a:txBody>
                  <a:tcPr marL="91440" marR="91440" marT="45720" marB="45720">
                    <a:solidFill>
                      <a:srgbClr val="FFFFFF"/>
                    </a:solidFill>
                  </a:tcPr>
                </a:tc>
                <a:tc>
                  <a:txBody>
                    <a:bodyPr/>
                    <a:lstStyle/>
                    <a:p>
                      <a:r>
                        <a:rPr sz="1200">
                          <a:solidFill>
                            <a:srgbClr val="334155"/>
                          </a:solidFill>
                        </a:rPr>
                        <a:t>Làm drift giữa các task rõ hơn.</a:t>
                      </a:r>
                    </a:p>
                  </a:txBody>
                  <a:tcPr marL="91440" marR="91440" marT="45720" marB="45720">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9A8E694A-80E4-4660-9789-549851D222B6}"/>
              </a:ext>
            </a:extLst>
          </p:cNvPr>
          <p:cNvSpPr>
            <a:spLocks xmlns:a="http://schemas.openxmlformats.org/drawingml/2006/main" noGrp="1"/>
          </p:cNvSpPr>
          <p:nvPr/>
        </p:nvSpPr>
        <p:spPr>
          <a:xfrm xmlns:a="http://schemas.openxmlformats.org/drawingml/2006/main">
            <a:off x="1428750" y="4191000"/>
            <a:ext cx="9334500" cy="1476375"/>
          </a:xfrm>
          <a:prstGeom xmlns:a="http://schemas.openxmlformats.org/drawingml/2006/main" prst="roundRect">
            <a:avLst>
              <a:gd name="adj" fmla="val 7742"/>
            </a:avLst>
          </a:prstGeom>
          <a:solidFill xmlns:a="http://schemas.openxmlformats.org/drawingml/2006/main">
            <a:srgbClr val="D9EAF7"/>
          </a:solidFill>
          <a:ln xmlns:a="http://schemas.openxmlformats.org/drawingml/2006/main" w="9525">
            <a:solidFill>
              <a:srgbClr val="2F559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04F627E9-A99A-439C-9A7E-2A95FBE13CFA}"/>
              </a:ext>
            </a:extLst>
          </p:cNvPr>
          <p:cNvSpPr>
            <a:spLocks xmlns:a="http://schemas.openxmlformats.org/drawingml/2006/main" noGrp="1"/>
          </p:cNvSpPr>
          <p:nvPr/>
        </p:nvSpPr>
        <p:spPr>
          <a:xfrm xmlns:a="http://schemas.openxmlformats.org/drawingml/2006/main">
            <a:off x="1638300" y="4362450"/>
            <a:ext cx="8915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Công thức cần nhớ khi bị hỏi</a:t>
            </a:r>
          </a:p>
        </p:txBody>
      </p:sp>
      <p:sp>
        <p:nvSpPr>
          <p:cNvPr id="12" name="">
            <a:extLst xmlns:a="http://schemas.openxmlformats.org/drawingml/2006/main">
              <a:ext uri="{FF2B5EF4-FFF2-40B4-BE49-F238E27FC236}">
                <a16:creationId xmlns:a16="http://schemas.microsoft.com/office/drawing/2014/main" id="{1DFC232D-2596-4A2B-8E8E-81ED5C868541}"/>
              </a:ext>
            </a:extLst>
          </p:cNvPr>
          <p:cNvSpPr>
            <a:spLocks xmlns:a="http://schemas.openxmlformats.org/drawingml/2006/main" noGrp="1"/>
          </p:cNvSpPr>
          <p:nvPr/>
        </p:nvSpPr>
        <p:spPr>
          <a:xfrm xmlns:a="http://schemas.openxmlformats.org/drawingml/2006/main">
            <a:off x="1638300" y="4743450"/>
            <a:ext cx="89154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Forgetting: mức giảm tốt nhất trước đó so với kết quả sau cùng trên task cũ.</a:t>
            </a:r>
          </a:p>
          <a:p xmlns:a="http://schemas.openxmlformats.org/drawingml/2006/main">
            <a:pPr algn="l">
              <a:defRPr sz="1350" b="0">
                <a:solidFill>
                  <a:srgbClr val="334155"/>
                </a:solidFill>
              </a:defRPr>
            </a:pPr>
            <a:r>
              <a:rPr sz="1350" b="0">
                <a:solidFill>
                  <a:srgbClr val="334155"/>
                </a:solidFill>
              </a:rPr>
              <a:t>BWT: ảnh hưởng của học task mới lên task cũ, càng gần 0 hoặc dương càng tốt.</a:t>
            </a:r>
          </a:p>
          <a:p xmlns:a="http://schemas.openxmlformats.org/drawingml/2006/main">
            <a:pPr algn="l">
              <a:defRPr sz="1350" b="0">
                <a:solidFill>
                  <a:srgbClr val="334155"/>
                </a:solidFill>
              </a:defRPr>
            </a:pPr>
            <a:r>
              <a:rPr sz="1350" b="0">
                <a:solidFill>
                  <a:srgbClr val="334155"/>
                </a:solidFill>
              </a:rPr>
              <a:t>FWT: khả năng tận dụng tri thức trước để học task mới.</a:t>
            </a:r>
          </a:p>
        </p:txBody>
      </p:sp>
    </p:spTree>
    <p:extLst>
      <p:ext uri="{BB962C8B-B14F-4D97-AF65-F5344CB8AC3E}">
        <p14:creationId xmlns:p14="http://schemas.microsoft.com/office/powerpoint/2010/main" val="959308478"/>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2EEC2D-E7B7-4A44-B9B6-0FDD146A83BE}"/>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EB529DAC-B94F-446B-AD93-004A6CDDC4AA}"/>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Kết quả single-run: 1:1 và 2:1</a:t>
            </a:r>
          </a:p>
        </p:txBody>
      </p:sp>
      <p:sp>
        <p:nvSpPr>
          <p:cNvPr id="3" name="">
            <a:extLst xmlns:a="http://schemas.openxmlformats.org/drawingml/2006/main">
              <a:ext uri="{FF2B5EF4-FFF2-40B4-BE49-F238E27FC236}">
                <a16:creationId xmlns:a16="http://schemas.microsoft.com/office/drawing/2014/main" id="{028CF925-D611-4169-89C1-A5C446CDAFB4}"/>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3BA7695E-C1AA-4197-96C1-DE1232B71C17}"/>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35DE3A79-4AC4-41BC-86D6-8B17BDD63F71}"/>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9/14</a:t>
            </a:r>
          </a:p>
        </p:txBody>
      </p:sp>
      <p:graphicFrame>
        <p:nvGraphicFramePr>
          <p:cNvPr id="15" name=""/>
          <p:cNvGraphicFramePr/>
          <p:nvPr/>
        </p:nvGraphicFramePr>
        <p:xfrm>
          <a:off xmlns:a="http://schemas.openxmlformats.org/drawingml/2006/main" x="571500" y="1428750"/>
          <a:ext xmlns:a="http://schemas.openxmlformats.org/drawingml/2006/main" cx="11049000" cy="2667000"/>
        </p:xfrm>
        <a:graphic xmlns:a="http://schemas.openxmlformats.org/drawingml/2006/main">
          <a:graphicData uri="http://schemas.openxmlformats.org/drawingml/2006/table">
            <a:tbl>
              <a:tblPr/>
              <a:tblGrid>
                <a:gridCol w="887146"/>
                <a:gridCol w="1451693"/>
                <a:gridCol w="1129095"/>
                <a:gridCol w="1129095"/>
                <a:gridCol w="1290394"/>
                <a:gridCol w="1290394"/>
                <a:gridCol w="3871182"/>
              </a:tblGrid>
              <a:tr h="533400">
                <a:tc>
                  <a:txBody>
                    <a:bodyPr/>
                    <a:lstStyle/>
                    <a:p>
                      <a:r>
                        <a:rPr sz="1200" b="1">
                          <a:solidFill>
                            <a:srgbClr val="FFFFFF"/>
                          </a:solidFill>
                        </a:rPr>
                        <a:t>Tỷ lệ</a:t>
                      </a:r>
                    </a:p>
                  </a:txBody>
                  <a:tcPr marL="91440" marR="91440" marT="45720" marB="45720">
                    <a:solidFill>
                      <a:srgbClr val="17365D"/>
                    </a:solidFill>
                  </a:tcPr>
                </a:tc>
                <a:tc>
                  <a:txBody>
                    <a:bodyPr/>
                    <a:lstStyle/>
                    <a:p>
                      <a:r>
                        <a:rPr sz="1200" b="1">
                          <a:solidFill>
                            <a:srgbClr val="FFFFFF"/>
                          </a:solidFill>
                        </a:rPr>
                        <a:t>Phương pháp</a:t>
                      </a:r>
                    </a:p>
                  </a:txBody>
                  <a:tcPr marL="91440" marR="91440" marT="45720" marB="45720">
                    <a:solidFill>
                      <a:srgbClr val="17365D"/>
                    </a:solidFill>
                  </a:tcPr>
                </a:tc>
                <a:tc>
                  <a:txBody>
                    <a:bodyPr/>
                    <a:lstStyle/>
                    <a:p>
                      <a:r>
                        <a:rPr sz="1200" b="1">
                          <a:solidFill>
                            <a:srgbClr val="FFFFFF"/>
                          </a:solidFill>
                        </a:rPr>
                        <a:t>ACC</a:t>
                      </a:r>
                    </a:p>
                  </a:txBody>
                  <a:tcPr marL="91440" marR="91440" marT="45720" marB="45720">
                    <a:solidFill>
                      <a:srgbClr val="17365D"/>
                    </a:solidFill>
                  </a:tcPr>
                </a:tc>
                <a:tc>
                  <a:txBody>
                    <a:bodyPr/>
                    <a:lstStyle/>
                    <a:p>
                      <a:r>
                        <a:rPr sz="1200" b="1">
                          <a:solidFill>
                            <a:srgbClr val="FFFFFF"/>
                          </a:solidFill>
                        </a:rPr>
                        <a:t>F1</a:t>
                      </a:r>
                    </a:p>
                  </a:txBody>
                  <a:tcPr marL="91440" marR="91440" marT="45720" marB="45720">
                    <a:solidFill>
                      <a:srgbClr val="17365D"/>
                    </a:solidFill>
                  </a:tcPr>
                </a:tc>
                <a:tc>
                  <a:txBody>
                    <a:bodyPr/>
                    <a:lstStyle/>
                    <a:p>
                      <a:r>
                        <a:rPr sz="1200" b="1">
                          <a:solidFill>
                            <a:srgbClr val="FFFFFF"/>
                          </a:solidFill>
                        </a:rPr>
                        <a:t>Recall</a:t>
                      </a:r>
                    </a:p>
                  </a:txBody>
                  <a:tcPr marL="91440" marR="91440" marT="45720" marB="45720">
                    <a:solidFill>
                      <a:srgbClr val="17365D"/>
                    </a:solidFill>
                  </a:tcPr>
                </a:tc>
                <a:tc>
                  <a:txBody>
                    <a:bodyPr/>
                    <a:lstStyle/>
                    <a:p>
                      <a:r>
                        <a:rPr sz="1200" b="1">
                          <a:solidFill>
                            <a:srgbClr val="FFFFFF"/>
                          </a:solidFill>
                        </a:rPr>
                        <a:t>Forget</a:t>
                      </a:r>
                    </a:p>
                  </a:txBody>
                  <a:tcPr marL="91440" marR="91440" marT="45720" marB="45720">
                    <a:solidFill>
                      <a:srgbClr val="17365D"/>
                    </a:solidFill>
                  </a:tcPr>
                </a:tc>
                <a:tc>
                  <a:txBody>
                    <a:bodyPr/>
                    <a:lstStyle/>
                    <a:p>
                      <a:r>
                        <a:rPr sz="1200" b="1">
                          <a:solidFill>
                            <a:srgbClr val="FFFFFF"/>
                          </a:solidFill>
                        </a:rPr>
                        <a:t>Nhận xét</a:t>
                      </a:r>
                    </a:p>
                  </a:txBody>
                  <a:tcPr marL="91440" marR="91440" marT="45720" marB="45720">
                    <a:solidFill>
                      <a:srgbClr val="17365D"/>
                    </a:solidFill>
                  </a:tcPr>
                </a:tc>
              </a:tr>
              <a:tr h="533400">
                <a:tc>
                  <a:txBody>
                    <a:bodyPr/>
                    <a:lstStyle/>
                    <a:p>
                      <a:r>
                        <a:rPr sz="1200">
                          <a:solidFill>
                            <a:srgbClr val="334155"/>
                          </a:solidFill>
                        </a:rPr>
                        <a:t>1:1</a:t>
                      </a:r>
                    </a:p>
                  </a:txBody>
                  <a:tcPr marL="91440" marR="91440" marT="45720" marB="45720">
                    <a:solidFill>
                      <a:srgbClr val="FFFFFF"/>
                    </a:solidFill>
                  </a:tcPr>
                </a:tc>
                <a:tc>
                  <a:txBody>
                    <a:bodyPr/>
                    <a:lstStyle/>
                    <a:p>
                      <a:r>
                        <a:rPr sz="1200">
                          <a:solidFill>
                            <a:srgbClr val="334155"/>
                          </a:solidFill>
                        </a:rPr>
                        <a:t>FedAvg</a:t>
                      </a:r>
                    </a:p>
                  </a:txBody>
                  <a:tcPr marL="91440" marR="91440" marT="45720" marB="45720">
                    <a:solidFill>
                      <a:srgbClr val="FFFFFF"/>
                    </a:solidFill>
                  </a:tcPr>
                </a:tc>
                <a:tc>
                  <a:txBody>
                    <a:bodyPr/>
                    <a:lstStyle/>
                    <a:p>
                      <a:r>
                        <a:rPr sz="1200">
                          <a:solidFill>
                            <a:srgbClr val="334155"/>
                          </a:solidFill>
                        </a:rPr>
                        <a:t>0.7848</a:t>
                      </a:r>
                    </a:p>
                  </a:txBody>
                  <a:tcPr marL="91440" marR="91440" marT="45720" marB="45720">
                    <a:solidFill>
                      <a:srgbClr val="FFFFFF"/>
                    </a:solidFill>
                  </a:tcPr>
                </a:tc>
                <a:tc>
                  <a:txBody>
                    <a:bodyPr/>
                    <a:lstStyle/>
                    <a:p>
                      <a:r>
                        <a:rPr sz="1200">
                          <a:solidFill>
                            <a:srgbClr val="334155"/>
                          </a:solidFill>
                        </a:rPr>
                        <a:t>0.7521</a:t>
                      </a:r>
                    </a:p>
                  </a:txBody>
                  <a:tcPr marL="91440" marR="91440" marT="45720" marB="45720">
                    <a:solidFill>
                      <a:srgbClr val="FFFFFF"/>
                    </a:solidFill>
                  </a:tcPr>
                </a:tc>
                <a:tc>
                  <a:txBody>
                    <a:bodyPr/>
                    <a:lstStyle/>
                    <a:p>
                      <a:r>
                        <a:rPr sz="1200">
                          <a:solidFill>
                            <a:srgbClr val="334155"/>
                          </a:solidFill>
                        </a:rPr>
                        <a:t>0.7235</a:t>
                      </a:r>
                    </a:p>
                  </a:txBody>
                  <a:tcPr marL="91440" marR="91440" marT="45720" marB="45720">
                    <a:solidFill>
                      <a:srgbClr val="FFFFFF"/>
                    </a:solidFill>
                  </a:tcPr>
                </a:tc>
                <a:tc>
                  <a:txBody>
                    <a:bodyPr/>
                    <a:lstStyle/>
                    <a:p>
                      <a:r>
                        <a:rPr sz="1200">
                          <a:solidFill>
                            <a:srgbClr val="334155"/>
                          </a:solidFill>
                        </a:rPr>
                        <a:t>0.0000</a:t>
                      </a:r>
                    </a:p>
                  </a:txBody>
                  <a:tcPr marL="91440" marR="91440" marT="45720" marB="45720">
                    <a:solidFill>
                      <a:srgbClr val="FFFFFF"/>
                    </a:solidFill>
                  </a:tcPr>
                </a:tc>
                <a:tc>
                  <a:txBody>
                    <a:bodyPr/>
                    <a:lstStyle/>
                    <a:p>
                      <a:r>
                        <a:rPr sz="1200">
                          <a:solidFill>
                            <a:srgbClr val="334155"/>
                          </a:solidFill>
                        </a:rPr>
                        <a:t>Recall thấp hơn do malware ít hơn.</a:t>
                      </a:r>
                    </a:p>
                  </a:txBody>
                  <a:tcPr marL="91440" marR="91440" marT="45720" marB="45720">
                    <a:solidFill>
                      <a:srgbClr val="FFFFFF"/>
                    </a:solidFill>
                  </a:tcPr>
                </a:tc>
              </a:tr>
              <a:tr h="533400">
                <a:tc>
                  <a:txBody>
                    <a:bodyPr/>
                    <a:lstStyle/>
                    <a:p>
                      <a:r>
                        <a:rPr sz="1200">
                          <a:solidFill>
                            <a:srgbClr val="334155"/>
                          </a:solidFill>
                        </a:rPr>
                        <a:t>1:1</a:t>
                      </a:r>
                    </a:p>
                  </a:txBody>
                  <a:tcPr marL="91440" marR="91440" marT="45720" marB="45720">
                    <a:solidFill>
                      <a:srgbClr val="FFFFFF"/>
                    </a:solidFill>
                  </a:tcPr>
                </a:tc>
                <a:tc>
                  <a:txBody>
                    <a:bodyPr/>
                    <a:lstStyle/>
                    <a:p>
                      <a:r>
                        <a:rPr sz="1200">
                          <a:solidFill>
                            <a:srgbClr val="334155"/>
                          </a:solidFill>
                        </a:rPr>
                        <a:t>FL-CL</a:t>
                      </a:r>
                    </a:p>
                  </a:txBody>
                  <a:tcPr marL="91440" marR="91440" marT="45720" marB="45720">
                    <a:solidFill>
                      <a:srgbClr val="FFFFFF"/>
                    </a:solidFill>
                  </a:tcPr>
                </a:tc>
                <a:tc>
                  <a:txBody>
                    <a:bodyPr/>
                    <a:lstStyle/>
                    <a:p>
                      <a:r>
                        <a:rPr sz="1200">
                          <a:solidFill>
                            <a:srgbClr val="334155"/>
                          </a:solidFill>
                        </a:rPr>
                        <a:t>0.8061</a:t>
                      </a:r>
                    </a:p>
                  </a:txBody>
                  <a:tcPr marL="91440" marR="91440" marT="45720" marB="45720">
                    <a:solidFill>
                      <a:srgbClr val="FFFFFF"/>
                    </a:solidFill>
                  </a:tcPr>
                </a:tc>
                <a:tc>
                  <a:txBody>
                    <a:bodyPr/>
                    <a:lstStyle/>
                    <a:p>
                      <a:r>
                        <a:rPr sz="1200">
                          <a:solidFill>
                            <a:srgbClr val="334155"/>
                          </a:solidFill>
                        </a:rPr>
                        <a:t>0.7803</a:t>
                      </a:r>
                    </a:p>
                  </a:txBody>
                  <a:tcPr marL="91440" marR="91440" marT="45720" marB="45720">
                    <a:solidFill>
                      <a:srgbClr val="FFFFFF"/>
                    </a:solidFill>
                  </a:tcPr>
                </a:tc>
                <a:tc>
                  <a:txBody>
                    <a:bodyPr/>
                    <a:lstStyle/>
                    <a:p>
                      <a:r>
                        <a:rPr sz="1200">
                          <a:solidFill>
                            <a:srgbClr val="334155"/>
                          </a:solidFill>
                        </a:rPr>
                        <a:t>0.7590</a:t>
                      </a:r>
                    </a:p>
                  </a:txBody>
                  <a:tcPr marL="91440" marR="91440" marT="45720" marB="45720">
                    <a:solidFill>
                      <a:srgbClr val="FFFFFF"/>
                    </a:solidFill>
                  </a:tcPr>
                </a:tc>
                <a:tc>
                  <a:txBody>
                    <a:bodyPr/>
                    <a:lstStyle/>
                    <a:p>
                      <a:r>
                        <a:rPr sz="1200">
                          <a:solidFill>
                            <a:srgbClr val="334155"/>
                          </a:solidFill>
                        </a:rPr>
                        <a:t>0.0000</a:t>
                      </a:r>
                    </a:p>
                  </a:txBody>
                  <a:tcPr marL="91440" marR="91440" marT="45720" marB="45720">
                    <a:solidFill>
                      <a:srgbClr val="FFFFFF"/>
                    </a:solidFill>
                  </a:tcPr>
                </a:tc>
                <a:tc>
                  <a:txBody>
                    <a:bodyPr/>
                    <a:lstStyle/>
                    <a:p>
                      <a:r>
                        <a:rPr sz="1200">
                          <a:solidFill>
                            <a:srgbClr val="334155"/>
                          </a:solidFill>
                        </a:rPr>
                        <a:t>Tốt hơn baseline nhưng forgetting chưa bật rõ.</a:t>
                      </a:r>
                    </a:p>
                  </a:txBody>
                  <a:tcPr marL="91440" marR="91440" marT="45720" marB="45720">
                    <a:solidFill>
                      <a:srgbClr val="FFFFFF"/>
                    </a:solidFill>
                  </a:tcPr>
                </a:tc>
              </a:tr>
              <a:tr h="533400">
                <a:tc>
                  <a:txBody>
                    <a:bodyPr/>
                    <a:lstStyle/>
                    <a:p>
                      <a:r>
                        <a:rPr sz="1200">
                          <a:solidFill>
                            <a:srgbClr val="334155"/>
                          </a:solidFill>
                        </a:rPr>
                        <a:t>2:1</a:t>
                      </a:r>
                    </a:p>
                  </a:txBody>
                  <a:tcPr marL="91440" marR="91440" marT="45720" marB="45720">
                    <a:solidFill>
                      <a:srgbClr val="FFFFFF"/>
                    </a:solidFill>
                  </a:tcPr>
                </a:tc>
                <a:tc>
                  <a:txBody>
                    <a:bodyPr/>
                    <a:lstStyle/>
                    <a:p>
                      <a:r>
                        <a:rPr sz="1200">
                          <a:solidFill>
                            <a:srgbClr val="334155"/>
                          </a:solidFill>
                        </a:rPr>
                        <a:t>FedAvg</a:t>
                      </a:r>
                    </a:p>
                  </a:txBody>
                  <a:tcPr marL="91440" marR="91440" marT="45720" marB="45720">
                    <a:solidFill>
                      <a:srgbClr val="FFFFFF"/>
                    </a:solidFill>
                  </a:tcPr>
                </a:tc>
                <a:tc>
                  <a:txBody>
                    <a:bodyPr/>
                    <a:lstStyle/>
                    <a:p>
                      <a:r>
                        <a:rPr sz="1200">
                          <a:solidFill>
                            <a:srgbClr val="334155"/>
                          </a:solidFill>
                        </a:rPr>
                        <a:t>0.9163</a:t>
                      </a:r>
                    </a:p>
                  </a:txBody>
                  <a:tcPr marL="91440" marR="91440" marT="45720" marB="45720">
                    <a:solidFill>
                      <a:srgbClr val="FFFFFF"/>
                    </a:solidFill>
                  </a:tcPr>
                </a:tc>
                <a:tc>
                  <a:txBody>
                    <a:bodyPr/>
                    <a:lstStyle/>
                    <a:p>
                      <a:r>
                        <a:rPr sz="1200">
                          <a:solidFill>
                            <a:srgbClr val="334155"/>
                          </a:solidFill>
                        </a:rPr>
                        <a:t>0.9385</a:t>
                      </a:r>
                    </a:p>
                  </a:txBody>
                  <a:tcPr marL="91440" marR="91440" marT="45720" marB="45720">
                    <a:solidFill>
                      <a:srgbClr val="FFFFFF"/>
                    </a:solidFill>
                  </a:tcPr>
                </a:tc>
                <a:tc>
                  <a:txBody>
                    <a:bodyPr/>
                    <a:lstStyle/>
                    <a:p>
                      <a:r>
                        <a:rPr sz="1200">
                          <a:solidFill>
                            <a:srgbClr val="334155"/>
                          </a:solidFill>
                        </a:rPr>
                        <a:t>0.9642</a:t>
                      </a:r>
                    </a:p>
                  </a:txBody>
                  <a:tcPr marL="91440" marR="91440" marT="45720" marB="45720">
                    <a:solidFill>
                      <a:srgbClr val="FFFFFF"/>
                    </a:solidFill>
                  </a:tcPr>
                </a:tc>
                <a:tc>
                  <a:txBody>
                    <a:bodyPr/>
                    <a:lstStyle/>
                    <a:p>
                      <a:r>
                        <a:rPr sz="1200">
                          <a:solidFill>
                            <a:srgbClr val="334155"/>
                          </a:solidFill>
                        </a:rPr>
                        <a:t>0.0107</a:t>
                      </a:r>
                    </a:p>
                  </a:txBody>
                  <a:tcPr marL="91440" marR="91440" marT="45720" marB="45720">
                    <a:solidFill>
                      <a:srgbClr val="FFFFFF"/>
                    </a:solidFill>
                  </a:tcPr>
                </a:tc>
                <a:tc>
                  <a:txBody>
                    <a:bodyPr/>
                    <a:lstStyle/>
                    <a:p>
                      <a:r>
                        <a:rPr sz="1200">
                          <a:solidFill>
                            <a:srgbClr val="334155"/>
                          </a:solidFill>
                        </a:rPr>
                        <a:t>Nhiều malware hơn nên Recall tăng.</a:t>
                      </a:r>
                    </a:p>
                  </a:txBody>
                  <a:tcPr marL="91440" marR="91440" marT="45720" marB="45720">
                    <a:solidFill>
                      <a:srgbClr val="FFFFFF"/>
                    </a:solidFill>
                  </a:tcPr>
                </a:tc>
              </a:tr>
              <a:tr h="533400">
                <a:tc>
                  <a:txBody>
                    <a:bodyPr/>
                    <a:lstStyle/>
                    <a:p>
                      <a:r>
                        <a:rPr sz="1200" b="1">
                          <a:solidFill>
                            <a:srgbClr val="17365D"/>
                          </a:solidFill>
                        </a:rPr>
                        <a:t>2:1</a:t>
                      </a:r>
                    </a:p>
                  </a:txBody>
                  <a:tcPr marL="91440" marR="91440" marT="45720" marB="45720">
                    <a:solidFill>
                      <a:srgbClr val="E7F4E8"/>
                    </a:solidFill>
                  </a:tcPr>
                </a:tc>
                <a:tc>
                  <a:txBody>
                    <a:bodyPr/>
                    <a:lstStyle/>
                    <a:p>
                      <a:r>
                        <a:rPr sz="1200" b="1">
                          <a:solidFill>
                            <a:srgbClr val="17365D"/>
                          </a:solidFill>
                        </a:rPr>
                        <a:t>FL-CL</a:t>
                      </a:r>
                    </a:p>
                  </a:txBody>
                  <a:tcPr marL="91440" marR="91440" marT="45720" marB="45720">
                    <a:solidFill>
                      <a:srgbClr val="E7F4E8"/>
                    </a:solidFill>
                  </a:tcPr>
                </a:tc>
                <a:tc>
                  <a:txBody>
                    <a:bodyPr/>
                    <a:lstStyle/>
                    <a:p>
                      <a:r>
                        <a:rPr sz="1200" b="1">
                          <a:solidFill>
                            <a:srgbClr val="17365D"/>
                          </a:solidFill>
                        </a:rPr>
                        <a:t>0.9217</a:t>
                      </a:r>
                    </a:p>
                  </a:txBody>
                  <a:tcPr marL="91440" marR="91440" marT="45720" marB="45720">
                    <a:solidFill>
                      <a:srgbClr val="E7F4E8"/>
                    </a:solidFill>
                  </a:tcPr>
                </a:tc>
                <a:tc>
                  <a:txBody>
                    <a:bodyPr/>
                    <a:lstStyle/>
                    <a:p>
                      <a:r>
                        <a:rPr sz="1200" b="1">
                          <a:solidFill>
                            <a:srgbClr val="17365D"/>
                          </a:solidFill>
                        </a:rPr>
                        <a:t>0.9430</a:t>
                      </a:r>
                    </a:p>
                  </a:txBody>
                  <a:tcPr marL="91440" marR="91440" marT="45720" marB="45720">
                    <a:solidFill>
                      <a:srgbClr val="E7F4E8"/>
                    </a:solidFill>
                  </a:tcPr>
                </a:tc>
                <a:tc>
                  <a:txBody>
                    <a:bodyPr/>
                    <a:lstStyle/>
                    <a:p>
                      <a:r>
                        <a:rPr sz="1200" b="1">
                          <a:solidFill>
                            <a:srgbClr val="17365D"/>
                          </a:solidFill>
                        </a:rPr>
                        <a:t>0.9738</a:t>
                      </a:r>
                    </a:p>
                  </a:txBody>
                  <a:tcPr marL="91440" marR="91440" marT="45720" marB="45720">
                    <a:solidFill>
                      <a:srgbClr val="E7F4E8"/>
                    </a:solidFill>
                  </a:tcPr>
                </a:tc>
                <a:tc>
                  <a:txBody>
                    <a:bodyPr/>
                    <a:lstStyle/>
                    <a:p>
                      <a:r>
                        <a:rPr sz="1200" b="1">
                          <a:solidFill>
                            <a:srgbClr val="17365D"/>
                          </a:solidFill>
                        </a:rPr>
                        <a:t>0.0046</a:t>
                      </a:r>
                    </a:p>
                  </a:txBody>
                  <a:tcPr marL="91440" marR="91440" marT="45720" marB="45720">
                    <a:solidFill>
                      <a:srgbClr val="E7F4E8"/>
                    </a:solidFill>
                  </a:tcPr>
                </a:tc>
                <a:tc>
                  <a:txBody>
                    <a:bodyPr/>
                    <a:lstStyle/>
                    <a:p>
                      <a:r>
                        <a:rPr sz="1200" b="1">
                          <a:solidFill>
                            <a:srgbClr val="17365D"/>
                          </a:solidFill>
                        </a:rPr>
                        <a:t>ACC/F1/Recall cao hơn, Forget thấp hơn.</a:t>
                      </a:r>
                    </a:p>
                  </a:txBody>
                  <a:tcPr marL="91440" marR="91440" marT="45720" marB="45720">
                    <a:solidFill>
                      <a:srgbClr val="E7F4E8"/>
                    </a:solidFill>
                  </a:tcPr>
                </a:tc>
              </a:tr>
            </a:tbl>
          </a:graphicData>
        </a:graphic>
      </p:graphicFrame>
      <p:sp>
        <p:nvSpPr>
          <p:cNvPr id="7" name="">
            <a:extLst xmlns:a="http://schemas.openxmlformats.org/drawingml/2006/main">
              <a:ext uri="{FF2B5EF4-FFF2-40B4-BE49-F238E27FC236}">
                <a16:creationId xmlns:a16="http://schemas.microsoft.com/office/drawing/2014/main" id="{A3C722FF-9E0D-4ADD-A278-DD4928F7825D}"/>
              </a:ext>
            </a:extLst>
          </p:cNvPr>
          <p:cNvSpPr>
            <a:spLocks xmlns:a="http://schemas.openxmlformats.org/drawingml/2006/main" noGrp="1"/>
          </p:cNvSpPr>
          <p:nvPr/>
        </p:nvSpPr>
        <p:spPr>
          <a:xfrm xmlns:a="http://schemas.openxmlformats.org/drawingml/2006/main">
            <a:off x="1000125" y="4524375"/>
            <a:ext cx="10191750" cy="1047750"/>
          </a:xfrm>
          <a:prstGeom xmlns:a="http://schemas.openxmlformats.org/drawingml/2006/main" prst="roundRect">
            <a:avLst>
              <a:gd name="adj" fmla="val 10909"/>
            </a:avLst>
          </a:prstGeom>
          <a:solidFill xmlns:a="http://schemas.openxmlformats.org/drawingml/2006/main">
            <a:srgbClr val="FFF3D7"/>
          </a:solidFill>
          <a:ln xmlns:a="http://schemas.openxmlformats.org/drawingml/2006/main" w="9525">
            <a:solidFill>
              <a:srgbClr val="B4530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02C6CEDC-1103-4085-B9FE-D01926D63DE8}"/>
              </a:ext>
            </a:extLst>
          </p:cNvPr>
          <p:cNvSpPr>
            <a:spLocks xmlns:a="http://schemas.openxmlformats.org/drawingml/2006/main" noGrp="1"/>
          </p:cNvSpPr>
          <p:nvPr/>
        </p:nvSpPr>
        <p:spPr>
          <a:xfrm xmlns:a="http://schemas.openxmlformats.org/drawingml/2006/main">
            <a:off x="1209675" y="4695825"/>
            <a:ext cx="9772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Thông điệp chính</a:t>
            </a:r>
          </a:p>
        </p:txBody>
      </p:sp>
      <p:sp>
        <p:nvSpPr>
          <p:cNvPr id="9" name="">
            <a:extLst xmlns:a="http://schemas.openxmlformats.org/drawingml/2006/main">
              <a:ext uri="{FF2B5EF4-FFF2-40B4-BE49-F238E27FC236}">
                <a16:creationId xmlns:a16="http://schemas.microsoft.com/office/drawing/2014/main" id="{DD95CDB6-7AC7-4E6E-8D36-E1F316CB824B}"/>
              </a:ext>
            </a:extLst>
          </p:cNvPr>
          <p:cNvSpPr>
            <a:spLocks xmlns:a="http://schemas.openxmlformats.org/drawingml/2006/main" noGrp="1"/>
          </p:cNvSpPr>
          <p:nvPr/>
        </p:nvSpPr>
        <p:spPr>
          <a:xfrm xmlns:a="http://schemas.openxmlformats.org/drawingml/2006/main">
            <a:off x="1209675" y="5076825"/>
            <a:ext cx="977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Khi tăng tỷ lệ malware:benign từ 1:1 lên 2:1, model được học nhiều mẫu malware hơn nên Recall/F1 tăng. Tuy nhiên Precision có thể không tăng mạnh vì mô hình nhạy hơn với malware, dẫn đến một số benign bị dự đoán nhầm là malware.</a:t>
            </a:r>
          </a:p>
        </p:txBody>
      </p:sp>
    </p:spTree>
    <p:extLst>
      <p:ext uri="{BB962C8B-B14F-4D97-AF65-F5344CB8AC3E}">
        <p14:creationId xmlns:p14="http://schemas.microsoft.com/office/powerpoint/2010/main" val="745675625"/>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57676FD-6441-4113-8CCD-18767A074D0A}"/>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A87BA47B-3E20-43AA-84B0-F8718DA173D1}"/>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Kết quả chính: K-Fold, 5 client, 5 task</a:t>
            </a:r>
          </a:p>
        </p:txBody>
      </p:sp>
      <p:sp>
        <p:nvSpPr>
          <p:cNvPr id="3" name="">
            <a:extLst xmlns:a="http://schemas.openxmlformats.org/drawingml/2006/main">
              <a:ext uri="{FF2B5EF4-FFF2-40B4-BE49-F238E27FC236}">
                <a16:creationId xmlns:a16="http://schemas.microsoft.com/office/drawing/2014/main" id="{13CFCF87-866C-4339-957C-17C2D2DB8AE9}"/>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0694F18A-DB9B-4222-9C37-23994772D2BA}"/>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7176AF61-C05C-4E95-9CDC-17A486E19936}"/>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10/14</a:t>
            </a:r>
          </a:p>
        </p:txBody>
      </p:sp>
      <p:sp>
        <p:nvSpPr>
          <p:cNvPr id="6" name="">
            <a:extLst xmlns:a="http://schemas.openxmlformats.org/drawingml/2006/main">
              <a:ext uri="{FF2B5EF4-FFF2-40B4-BE49-F238E27FC236}">
                <a16:creationId xmlns:a16="http://schemas.microsoft.com/office/drawing/2014/main" id="{32235425-B163-4202-A918-60AFB3EE46ED}"/>
              </a:ext>
            </a:extLst>
          </p:cNvPr>
          <p:cNvSpPr>
            <a:spLocks xmlns:a="http://schemas.openxmlformats.org/drawingml/2006/main" noGrp="1"/>
          </p:cNvSpPr>
          <p:nvPr/>
        </p:nvSpPr>
        <p:spPr>
          <a:xfrm xmlns:a="http://schemas.openxmlformats.org/drawingml/2006/main">
            <a:off x="704850" y="12954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334155"/>
                </a:solidFill>
              </a:defRPr>
            </a:pPr>
            <a:r>
              <a:rPr sz="1500" b="0">
                <a:solidFill>
                  <a:srgbClr val="334155"/>
                </a:solidFill>
              </a:rPr>
              <a:t>Thiết lập chính: dataset 2:1, K-Fold = 5, clients = 5, tasks = 5, category_dominant, dominant_ratio = 0.90.</a:t>
            </a:r>
          </a:p>
        </p:txBody>
      </p:sp>
      <p:graphicFrame>
        <p:nvGraphicFramePr>
          <p:cNvPr id="26" name=""/>
          <p:cNvGraphicFramePr/>
          <p:nvPr/>
        </p:nvGraphicFramePr>
        <p:xfrm>
          <a:off xmlns:a="http://schemas.openxmlformats.org/drawingml/2006/main" x="361950" y="1809750"/>
          <a:ext xmlns:a="http://schemas.openxmlformats.org/drawingml/2006/main" cx="11468100" cy="2381250"/>
        </p:xfrm>
        <a:graphic xmlns:a="http://schemas.openxmlformats.org/drawingml/2006/main">
          <a:graphicData uri="http://schemas.openxmlformats.org/drawingml/2006/table">
            <a:tbl>
              <a:tblPr/>
              <a:tblGrid>
                <a:gridCol w="1647014"/>
                <a:gridCol w="1366412"/>
                <a:gridCol w="1366412"/>
                <a:gridCol w="1366412"/>
                <a:gridCol w="1439613"/>
                <a:gridCol w="1439613"/>
                <a:gridCol w="1439613"/>
                <a:gridCol w="1403012"/>
              </a:tblGrid>
              <a:tr h="595313">
                <a:tc>
                  <a:txBody>
                    <a:bodyPr/>
                    <a:lstStyle/>
                    <a:p>
                      <a:r>
                        <a:rPr sz="1200" b="1">
                          <a:solidFill>
                            <a:srgbClr val="FFFFFF"/>
                          </a:solidFill>
                        </a:rPr>
                        <a:t>Method</a:t>
                      </a:r>
                    </a:p>
                  </a:txBody>
                  <a:tcPr marL="91440" marR="91440" marT="45720" marB="45720">
                    <a:solidFill>
                      <a:srgbClr val="17365D"/>
                    </a:solidFill>
                  </a:tcPr>
                </a:tc>
                <a:tc>
                  <a:txBody>
                    <a:bodyPr/>
                    <a:lstStyle/>
                    <a:p>
                      <a:r>
                        <a:rPr sz="1200" b="1">
                          <a:solidFill>
                            <a:srgbClr val="FFFFFF"/>
                          </a:solidFill>
                        </a:rPr>
                        <a:t>ACC</a:t>
                      </a:r>
                    </a:p>
                  </a:txBody>
                  <a:tcPr marL="91440" marR="91440" marT="45720" marB="45720">
                    <a:solidFill>
                      <a:srgbClr val="17365D"/>
                    </a:solidFill>
                  </a:tcPr>
                </a:tc>
                <a:tc>
                  <a:txBody>
                    <a:bodyPr/>
                    <a:lstStyle/>
                    <a:p>
                      <a:r>
                        <a:rPr sz="1200" b="1">
                          <a:solidFill>
                            <a:srgbClr val="FFFFFF"/>
                          </a:solidFill>
                        </a:rPr>
                        <a:t>Prec</a:t>
                      </a:r>
                    </a:p>
                  </a:txBody>
                  <a:tcPr marL="91440" marR="91440" marT="45720" marB="45720">
                    <a:solidFill>
                      <a:srgbClr val="17365D"/>
                    </a:solidFill>
                  </a:tcPr>
                </a:tc>
                <a:tc>
                  <a:txBody>
                    <a:bodyPr/>
                    <a:lstStyle/>
                    <a:p>
                      <a:r>
                        <a:rPr sz="1200" b="1">
                          <a:solidFill>
                            <a:srgbClr val="FFFFFF"/>
                          </a:solidFill>
                        </a:rPr>
                        <a:t>F1</a:t>
                      </a:r>
                    </a:p>
                  </a:txBody>
                  <a:tcPr marL="91440" marR="91440" marT="45720" marB="45720">
                    <a:solidFill>
                      <a:srgbClr val="17365D"/>
                    </a:solidFill>
                  </a:tcPr>
                </a:tc>
                <a:tc>
                  <a:txBody>
                    <a:bodyPr/>
                    <a:lstStyle/>
                    <a:p>
                      <a:r>
                        <a:rPr sz="1200" b="1">
                          <a:solidFill>
                            <a:srgbClr val="FFFFFF"/>
                          </a:solidFill>
                        </a:rPr>
                        <a:t>Recall</a:t>
                      </a:r>
                    </a:p>
                  </a:txBody>
                  <a:tcPr marL="91440" marR="91440" marT="45720" marB="45720">
                    <a:solidFill>
                      <a:srgbClr val="17365D"/>
                    </a:solidFill>
                  </a:tcPr>
                </a:tc>
                <a:tc>
                  <a:txBody>
                    <a:bodyPr/>
                    <a:lstStyle/>
                    <a:p>
                      <a:r>
                        <a:rPr sz="1200" b="1">
                          <a:solidFill>
                            <a:srgbClr val="FFFFFF"/>
                          </a:solidFill>
                        </a:rPr>
                        <a:t>Forget</a:t>
                      </a:r>
                    </a:p>
                  </a:txBody>
                  <a:tcPr marL="91440" marR="91440" marT="45720" marB="45720">
                    <a:solidFill>
                      <a:srgbClr val="17365D"/>
                    </a:solidFill>
                  </a:tcPr>
                </a:tc>
                <a:tc>
                  <a:txBody>
                    <a:bodyPr/>
                    <a:lstStyle/>
                    <a:p>
                      <a:r>
                        <a:rPr sz="1200" b="1">
                          <a:solidFill>
                            <a:srgbClr val="FFFFFF"/>
                          </a:solidFill>
                        </a:rPr>
                        <a:t>BWT</a:t>
                      </a:r>
                    </a:p>
                  </a:txBody>
                  <a:tcPr marL="91440" marR="91440" marT="45720" marB="45720">
                    <a:solidFill>
                      <a:srgbClr val="17365D"/>
                    </a:solidFill>
                  </a:tcPr>
                </a:tc>
                <a:tc>
                  <a:txBody>
                    <a:bodyPr/>
                    <a:lstStyle/>
                    <a:p>
                      <a:r>
                        <a:rPr sz="1200" b="1">
                          <a:solidFill>
                            <a:srgbClr val="FFFFFF"/>
                          </a:solidFill>
                        </a:rPr>
                        <a:t>FWT</a:t>
                      </a:r>
                    </a:p>
                  </a:txBody>
                  <a:tcPr marL="91440" marR="91440" marT="45720" marB="45720">
                    <a:solidFill>
                      <a:srgbClr val="17365D"/>
                    </a:solidFill>
                  </a:tcPr>
                </a:tc>
              </a:tr>
              <a:tr h="595313">
                <a:tc>
                  <a:txBody>
                    <a:bodyPr/>
                    <a:lstStyle/>
                    <a:p>
                      <a:r>
                        <a:rPr sz="1200">
                          <a:solidFill>
                            <a:srgbClr val="334155"/>
                          </a:solidFill>
                        </a:rPr>
                        <a:t>FedAvg</a:t>
                      </a:r>
                    </a:p>
                  </a:txBody>
                  <a:tcPr marL="91440" marR="91440" marT="45720" marB="45720">
                    <a:solidFill>
                      <a:srgbClr val="FFFFFF"/>
                    </a:solidFill>
                  </a:tcPr>
                </a:tc>
                <a:tc>
                  <a:txBody>
                    <a:bodyPr/>
                    <a:lstStyle/>
                    <a:p>
                      <a:r>
                        <a:rPr sz="1200">
                          <a:solidFill>
                            <a:srgbClr val="334155"/>
                          </a:solidFill>
                        </a:rPr>
                        <a:t>0.8802±0.0127</a:t>
                      </a:r>
                    </a:p>
                  </a:txBody>
                  <a:tcPr marL="91440" marR="91440" marT="45720" marB="45720">
                    <a:solidFill>
                      <a:srgbClr val="FFFFFF"/>
                    </a:solidFill>
                  </a:tcPr>
                </a:tc>
                <a:tc>
                  <a:txBody>
                    <a:bodyPr/>
                    <a:lstStyle/>
                    <a:p>
                      <a:r>
                        <a:rPr sz="1200">
                          <a:solidFill>
                            <a:srgbClr val="334155"/>
                          </a:solidFill>
                        </a:rPr>
                        <a:t>0.9159±0.0042</a:t>
                      </a:r>
                    </a:p>
                  </a:txBody>
                  <a:tcPr marL="91440" marR="91440" marT="45720" marB="45720">
                    <a:solidFill>
                      <a:srgbClr val="FFFFFF"/>
                    </a:solidFill>
                  </a:tcPr>
                </a:tc>
                <a:tc>
                  <a:txBody>
                    <a:bodyPr/>
                    <a:lstStyle/>
                    <a:p>
                      <a:r>
                        <a:rPr sz="1200">
                          <a:solidFill>
                            <a:srgbClr val="334155"/>
                          </a:solidFill>
                        </a:rPr>
                        <a:t>0.9070±0.0116</a:t>
                      </a:r>
                    </a:p>
                  </a:txBody>
                  <a:tcPr marL="91440" marR="91440" marT="45720" marB="45720">
                    <a:solidFill>
                      <a:srgbClr val="FFFFFF"/>
                    </a:solidFill>
                  </a:tcPr>
                </a:tc>
                <a:tc>
                  <a:txBody>
                    <a:bodyPr/>
                    <a:lstStyle/>
                    <a:p>
                      <a:r>
                        <a:rPr sz="1200">
                          <a:solidFill>
                            <a:srgbClr val="334155"/>
                          </a:solidFill>
                        </a:rPr>
                        <a:t>0.9039±0.0231</a:t>
                      </a:r>
                    </a:p>
                  </a:txBody>
                  <a:tcPr marL="91440" marR="91440" marT="45720" marB="45720">
                    <a:solidFill>
                      <a:srgbClr val="FFFFFF"/>
                    </a:solidFill>
                  </a:tcPr>
                </a:tc>
                <a:tc>
                  <a:txBody>
                    <a:bodyPr/>
                    <a:lstStyle/>
                    <a:p>
                      <a:r>
                        <a:rPr sz="1200">
                          <a:solidFill>
                            <a:srgbClr val="334155"/>
                          </a:solidFill>
                        </a:rPr>
                        <a:t>0.0407±0.0202</a:t>
                      </a:r>
                    </a:p>
                  </a:txBody>
                  <a:tcPr marL="91440" marR="91440" marT="45720" marB="45720">
                    <a:solidFill>
                      <a:srgbClr val="FFFFFF"/>
                    </a:solidFill>
                  </a:tcPr>
                </a:tc>
                <a:tc>
                  <a:txBody>
                    <a:bodyPr/>
                    <a:lstStyle/>
                    <a:p>
                      <a:r>
                        <a:rPr sz="1200">
                          <a:solidFill>
                            <a:srgbClr val="334155"/>
                          </a:solidFill>
                        </a:rPr>
                        <a:t>-0.0382±0.0211</a:t>
                      </a:r>
                    </a:p>
                  </a:txBody>
                  <a:tcPr marL="91440" marR="91440" marT="45720" marB="45720">
                    <a:solidFill>
                      <a:srgbClr val="FFFFFF"/>
                    </a:solidFill>
                  </a:tcPr>
                </a:tc>
                <a:tc>
                  <a:txBody>
                    <a:bodyPr/>
                    <a:lstStyle/>
                    <a:p>
                      <a:r>
                        <a:rPr sz="1200">
                          <a:solidFill>
                            <a:srgbClr val="334155"/>
                          </a:solidFill>
                        </a:rPr>
                        <a:t>0.3780±0.0124</a:t>
                      </a:r>
                    </a:p>
                  </a:txBody>
                  <a:tcPr marL="91440" marR="91440" marT="45720" marB="45720">
                    <a:solidFill>
                      <a:srgbClr val="FFFFFF"/>
                    </a:solidFill>
                  </a:tcPr>
                </a:tc>
              </a:tr>
              <a:tr h="595313">
                <a:tc>
                  <a:txBody>
                    <a:bodyPr/>
                    <a:lstStyle/>
                    <a:p>
                      <a:r>
                        <a:rPr sz="1200">
                          <a:solidFill>
                            <a:srgbClr val="334155"/>
                          </a:solidFill>
                        </a:rPr>
                        <a:t>FL-MalDrift</a:t>
                      </a:r>
                    </a:p>
                  </a:txBody>
                  <a:tcPr marL="91440" marR="91440" marT="45720" marB="45720">
                    <a:solidFill>
                      <a:srgbClr val="FFFFFF"/>
                    </a:solidFill>
                  </a:tcPr>
                </a:tc>
                <a:tc>
                  <a:txBody>
                    <a:bodyPr/>
                    <a:lstStyle/>
                    <a:p>
                      <a:r>
                        <a:rPr sz="1200">
                          <a:solidFill>
                            <a:srgbClr val="334155"/>
                          </a:solidFill>
                        </a:rPr>
                        <a:t>0.8829±0.0131</a:t>
                      </a:r>
                    </a:p>
                  </a:txBody>
                  <a:tcPr marL="91440" marR="91440" marT="45720" marB="45720">
                    <a:solidFill>
                      <a:srgbClr val="FFFFFF"/>
                    </a:solidFill>
                  </a:tcPr>
                </a:tc>
                <a:tc>
                  <a:txBody>
                    <a:bodyPr/>
                    <a:lstStyle/>
                    <a:p>
                      <a:r>
                        <a:rPr sz="1200">
                          <a:solidFill>
                            <a:srgbClr val="334155"/>
                          </a:solidFill>
                        </a:rPr>
                        <a:t>0.9138±0.0053</a:t>
                      </a:r>
                    </a:p>
                  </a:txBody>
                  <a:tcPr marL="91440" marR="91440" marT="45720" marB="45720">
                    <a:solidFill>
                      <a:srgbClr val="FFFFFF"/>
                    </a:solidFill>
                  </a:tcPr>
                </a:tc>
                <a:tc>
                  <a:txBody>
                    <a:bodyPr/>
                    <a:lstStyle/>
                    <a:p>
                      <a:r>
                        <a:rPr sz="1200">
                          <a:solidFill>
                            <a:srgbClr val="334155"/>
                          </a:solidFill>
                        </a:rPr>
                        <a:t>0.9098±0.0116</a:t>
                      </a:r>
                    </a:p>
                  </a:txBody>
                  <a:tcPr marL="91440" marR="91440" marT="45720" marB="45720">
                    <a:solidFill>
                      <a:srgbClr val="FFFFFF"/>
                    </a:solidFill>
                  </a:tcPr>
                </a:tc>
                <a:tc>
                  <a:txBody>
                    <a:bodyPr/>
                    <a:lstStyle/>
                    <a:p>
                      <a:r>
                        <a:rPr sz="1200">
                          <a:solidFill>
                            <a:srgbClr val="334155"/>
                          </a:solidFill>
                        </a:rPr>
                        <a:t>0.9110±0.0225</a:t>
                      </a:r>
                    </a:p>
                  </a:txBody>
                  <a:tcPr marL="91440" marR="91440" marT="45720" marB="45720">
                    <a:solidFill>
                      <a:srgbClr val="FFFFFF"/>
                    </a:solidFill>
                  </a:tcPr>
                </a:tc>
                <a:tc>
                  <a:txBody>
                    <a:bodyPr/>
                    <a:lstStyle/>
                    <a:p>
                      <a:r>
                        <a:rPr sz="1200">
                          <a:solidFill>
                            <a:srgbClr val="334155"/>
                          </a:solidFill>
                        </a:rPr>
                        <a:t>0.0361±0.0155</a:t>
                      </a:r>
                    </a:p>
                  </a:txBody>
                  <a:tcPr marL="91440" marR="91440" marT="45720" marB="45720">
                    <a:solidFill>
                      <a:srgbClr val="FFFFFF"/>
                    </a:solidFill>
                  </a:tcPr>
                </a:tc>
                <a:tc>
                  <a:txBody>
                    <a:bodyPr/>
                    <a:lstStyle/>
                    <a:p>
                      <a:r>
                        <a:rPr sz="1200">
                          <a:solidFill>
                            <a:srgbClr val="334155"/>
                          </a:solidFill>
                        </a:rPr>
                        <a:t>-0.0321±0.0178</a:t>
                      </a:r>
                    </a:p>
                  </a:txBody>
                  <a:tcPr marL="91440" marR="91440" marT="45720" marB="45720">
                    <a:solidFill>
                      <a:srgbClr val="FFFFFF"/>
                    </a:solidFill>
                  </a:tcPr>
                </a:tc>
                <a:tc>
                  <a:txBody>
                    <a:bodyPr/>
                    <a:lstStyle/>
                    <a:p>
                      <a:r>
                        <a:rPr sz="1200">
                          <a:solidFill>
                            <a:srgbClr val="334155"/>
                          </a:solidFill>
                        </a:rPr>
                        <a:t>0.3768±0.0137</a:t>
                      </a:r>
                    </a:p>
                  </a:txBody>
                  <a:tcPr marL="91440" marR="91440" marT="45720" marB="45720">
                    <a:solidFill>
                      <a:srgbClr val="FFFFFF"/>
                    </a:solidFill>
                  </a:tcPr>
                </a:tc>
              </a:tr>
              <a:tr h="595313">
                <a:tc>
                  <a:txBody>
                    <a:bodyPr/>
                    <a:lstStyle/>
                    <a:p>
                      <a:r>
                        <a:rPr sz="1200" b="1">
                          <a:solidFill>
                            <a:srgbClr val="17365D"/>
                          </a:solidFill>
                        </a:rPr>
                        <a:t>FL-CL-MalDrift</a:t>
                      </a:r>
                    </a:p>
                  </a:txBody>
                  <a:tcPr marL="91440" marR="91440" marT="45720" marB="45720">
                    <a:solidFill>
                      <a:srgbClr val="E7F4E8"/>
                    </a:solidFill>
                  </a:tcPr>
                </a:tc>
                <a:tc>
                  <a:txBody>
                    <a:bodyPr/>
                    <a:lstStyle/>
                    <a:p>
                      <a:r>
                        <a:rPr sz="1200" b="1">
                          <a:solidFill>
                            <a:srgbClr val="17365D"/>
                          </a:solidFill>
                        </a:rPr>
                        <a:t>0.9089±0.0101</a:t>
                      </a:r>
                    </a:p>
                  </a:txBody>
                  <a:tcPr marL="91440" marR="91440" marT="45720" marB="45720">
                    <a:solidFill>
                      <a:srgbClr val="E7F4E8"/>
                    </a:solidFill>
                  </a:tcPr>
                </a:tc>
                <a:tc>
                  <a:txBody>
                    <a:bodyPr/>
                    <a:lstStyle/>
                    <a:p>
                      <a:r>
                        <a:rPr sz="1200" b="1">
                          <a:solidFill>
                            <a:srgbClr val="17365D"/>
                          </a:solidFill>
                        </a:rPr>
                        <a:t>0.9164±0.0031</a:t>
                      </a:r>
                    </a:p>
                  </a:txBody>
                  <a:tcPr marL="91440" marR="91440" marT="45720" marB="45720">
                    <a:solidFill>
                      <a:srgbClr val="E7F4E8"/>
                    </a:solidFill>
                  </a:tcPr>
                </a:tc>
                <a:tc>
                  <a:txBody>
                    <a:bodyPr/>
                    <a:lstStyle/>
                    <a:p>
                      <a:r>
                        <a:rPr sz="1200" b="1">
                          <a:solidFill>
                            <a:srgbClr val="17365D"/>
                          </a:solidFill>
                        </a:rPr>
                        <a:t>0.9320±0.0087</a:t>
                      </a:r>
                    </a:p>
                  </a:txBody>
                  <a:tcPr marL="91440" marR="91440" marT="45720" marB="45720">
                    <a:solidFill>
                      <a:srgbClr val="E7F4E8"/>
                    </a:solidFill>
                  </a:tcPr>
                </a:tc>
                <a:tc>
                  <a:txBody>
                    <a:bodyPr/>
                    <a:lstStyle/>
                    <a:p>
                      <a:r>
                        <a:rPr sz="1200" b="1">
                          <a:solidFill>
                            <a:srgbClr val="17365D"/>
                          </a:solidFill>
                        </a:rPr>
                        <a:t>0.9511±0.0183</a:t>
                      </a:r>
                    </a:p>
                  </a:txBody>
                  <a:tcPr marL="91440" marR="91440" marT="45720" marB="45720">
                    <a:solidFill>
                      <a:srgbClr val="E7F4E8"/>
                    </a:solidFill>
                  </a:tcPr>
                </a:tc>
                <a:tc>
                  <a:txBody>
                    <a:bodyPr/>
                    <a:lstStyle/>
                    <a:p>
                      <a:r>
                        <a:rPr sz="1200" b="1">
                          <a:solidFill>
                            <a:srgbClr val="17365D"/>
                          </a:solidFill>
                        </a:rPr>
                        <a:t>0.0108±0.0126</a:t>
                      </a:r>
                    </a:p>
                  </a:txBody>
                  <a:tcPr marL="91440" marR="91440" marT="45720" marB="45720">
                    <a:solidFill>
                      <a:srgbClr val="E7F4E8"/>
                    </a:solidFill>
                  </a:tcPr>
                </a:tc>
                <a:tc>
                  <a:txBody>
                    <a:bodyPr/>
                    <a:lstStyle/>
                    <a:p>
                      <a:r>
                        <a:rPr sz="1200" b="1">
                          <a:solidFill>
                            <a:srgbClr val="17365D"/>
                          </a:solidFill>
                        </a:rPr>
                        <a:t>-0.0050±0.0157</a:t>
                      </a:r>
                    </a:p>
                  </a:txBody>
                  <a:tcPr marL="91440" marR="91440" marT="45720" marB="45720">
                    <a:solidFill>
                      <a:srgbClr val="E7F4E8"/>
                    </a:solidFill>
                  </a:tcPr>
                </a:tc>
                <a:tc>
                  <a:txBody>
                    <a:bodyPr/>
                    <a:lstStyle/>
                    <a:p>
                      <a:r>
                        <a:rPr sz="1200" b="1">
                          <a:solidFill>
                            <a:srgbClr val="17365D"/>
                          </a:solidFill>
                        </a:rPr>
                        <a:t>0.3812±0.0183</a:t>
                      </a:r>
                    </a:p>
                  </a:txBody>
                  <a:tcPr marL="91440" marR="91440" marT="45720" marB="45720">
                    <a:solidFill>
                      <a:srgbClr val="E7F4E8"/>
                    </a:solidFill>
                  </a:tcPr>
                </a:tc>
              </a:tr>
            </a:tbl>
          </a:graphicData>
        </a:graphic>
      </p:graphicFrame>
      <p:sp>
        <p:nvSpPr>
          <p:cNvPr id="8" name="">
            <a:extLst xmlns:a="http://schemas.openxmlformats.org/drawingml/2006/main">
              <a:ext uri="{FF2B5EF4-FFF2-40B4-BE49-F238E27FC236}">
                <a16:creationId xmlns:a16="http://schemas.microsoft.com/office/drawing/2014/main" id="{C0D977AF-3468-4607-9EE9-4D83E425F102}"/>
              </a:ext>
            </a:extLst>
          </p:cNvPr>
          <p:cNvSpPr>
            <a:spLocks xmlns:a="http://schemas.openxmlformats.org/drawingml/2006/main" noGrp="1"/>
          </p:cNvSpPr>
          <p:nvPr/>
        </p:nvSpPr>
        <p:spPr>
          <a:xfrm xmlns:a="http://schemas.openxmlformats.org/drawingml/2006/main">
            <a:off x="1428750" y="4572000"/>
            <a:ext cx="2667000" cy="1314450"/>
          </a:xfrm>
          <a:prstGeom xmlns:a="http://schemas.openxmlformats.org/drawingml/2006/main" prst="roundRect">
            <a:avLst>
              <a:gd name="adj" fmla="val 8696"/>
            </a:avLst>
          </a:prstGeom>
          <a:solidFill xmlns:a="http://schemas.openxmlformats.org/drawingml/2006/main">
            <a:srgbClr val="E7F4E8"/>
          </a:solidFill>
          <a:ln xmlns:a="http://schemas.openxmlformats.org/drawingml/2006/main" w="9525">
            <a:solidFill>
              <a:srgbClr val="2E7D32"/>
            </a:solidFill>
            <a:prstDash val="solid"/>
          </a:ln>
        </p:spPr>
      </p:sp>
      <p:sp>
        <p:nvSpPr>
          <p:cNvPr id="9" name="">
            <a:extLst xmlns:a="http://schemas.openxmlformats.org/drawingml/2006/main">
              <a:ext uri="{FF2B5EF4-FFF2-40B4-BE49-F238E27FC236}">
                <a16:creationId xmlns:a16="http://schemas.microsoft.com/office/drawing/2014/main" id="{72EC02FA-7CEA-45A8-B8F5-6A892D9D61DE}"/>
              </a:ext>
            </a:extLst>
          </p:cNvPr>
          <p:cNvSpPr>
            <a:spLocks xmlns:a="http://schemas.openxmlformats.org/drawingml/2006/main" noGrp="1"/>
          </p:cNvSpPr>
          <p:nvPr/>
        </p:nvSpPr>
        <p:spPr>
          <a:xfrm xmlns:a="http://schemas.openxmlformats.org/drawingml/2006/main">
            <a:off x="1600200" y="470535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E7D32"/>
                </a:solidFill>
              </a:defRPr>
            </a:pPr>
            <a:r>
              <a:rPr sz="1350" b="1">
                <a:solidFill>
                  <a:srgbClr val="2E7D32"/>
                </a:solidFill>
              </a:rPr>
              <a:t>ACC tăng</a:t>
            </a:r>
          </a:p>
        </p:txBody>
      </p:sp>
      <p:sp>
        <p:nvSpPr>
          <p:cNvPr id="10" name="">
            <a:extLst xmlns:a="http://schemas.openxmlformats.org/drawingml/2006/main">
              <a:ext uri="{FF2B5EF4-FFF2-40B4-BE49-F238E27FC236}">
                <a16:creationId xmlns:a16="http://schemas.microsoft.com/office/drawing/2014/main" id="{38DB89C9-B77F-4C21-BC0F-FFA54D1BE504}"/>
              </a:ext>
            </a:extLst>
          </p:cNvPr>
          <p:cNvSpPr>
            <a:spLocks xmlns:a="http://schemas.openxmlformats.org/drawingml/2006/main" noGrp="1"/>
          </p:cNvSpPr>
          <p:nvPr/>
        </p:nvSpPr>
        <p:spPr>
          <a:xfrm xmlns:a="http://schemas.openxmlformats.org/drawingml/2006/main">
            <a:off x="1600200" y="5010150"/>
            <a:ext cx="2324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365D"/>
                </a:solidFill>
              </a:defRPr>
            </a:pPr>
            <a:r>
              <a:rPr sz="2550" b="1">
                <a:solidFill>
                  <a:srgbClr val="17365D"/>
                </a:solidFill>
              </a:rPr>
              <a:t>+0.0287</a:t>
            </a:r>
          </a:p>
        </p:txBody>
      </p:sp>
      <p:sp>
        <p:nvSpPr>
          <p:cNvPr id="11" name="">
            <a:extLst xmlns:a="http://schemas.openxmlformats.org/drawingml/2006/main">
              <a:ext uri="{FF2B5EF4-FFF2-40B4-BE49-F238E27FC236}">
                <a16:creationId xmlns:a16="http://schemas.microsoft.com/office/drawing/2014/main" id="{82FE665A-3573-4073-BB3C-688C1FF48C21}"/>
              </a:ext>
            </a:extLst>
          </p:cNvPr>
          <p:cNvSpPr>
            <a:spLocks xmlns:a="http://schemas.openxmlformats.org/drawingml/2006/main" noGrp="1"/>
          </p:cNvSpPr>
          <p:nvPr/>
        </p:nvSpPr>
        <p:spPr>
          <a:xfrm xmlns:a="http://schemas.openxmlformats.org/drawingml/2006/main">
            <a:off x="1600200" y="54864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334155"/>
                </a:solidFill>
              </a:defRPr>
            </a:pPr>
            <a:r>
              <a:rPr sz="1200" b="0">
                <a:solidFill>
                  <a:srgbClr val="334155"/>
                </a:solidFill>
              </a:rPr>
              <a:t>so với FedAvg</a:t>
            </a:r>
          </a:p>
        </p:txBody>
      </p:sp>
      <p:sp>
        <p:nvSpPr>
          <p:cNvPr id="12" name="">
            <a:extLst xmlns:a="http://schemas.openxmlformats.org/drawingml/2006/main">
              <a:ext uri="{FF2B5EF4-FFF2-40B4-BE49-F238E27FC236}">
                <a16:creationId xmlns:a16="http://schemas.microsoft.com/office/drawing/2014/main" id="{BE254F84-E9BE-4702-997E-291C11EA8E41}"/>
              </a:ext>
            </a:extLst>
          </p:cNvPr>
          <p:cNvSpPr>
            <a:spLocks xmlns:a="http://schemas.openxmlformats.org/drawingml/2006/main" noGrp="1"/>
          </p:cNvSpPr>
          <p:nvPr/>
        </p:nvSpPr>
        <p:spPr>
          <a:xfrm xmlns:a="http://schemas.openxmlformats.org/drawingml/2006/main">
            <a:off x="4762500" y="4572000"/>
            <a:ext cx="2667000" cy="1314450"/>
          </a:xfrm>
          <a:prstGeom xmlns:a="http://schemas.openxmlformats.org/drawingml/2006/main" prst="roundRect">
            <a:avLst>
              <a:gd name="adj" fmla="val 8696"/>
            </a:avLst>
          </a:prstGeom>
          <a:solidFill xmlns:a="http://schemas.openxmlformats.org/drawingml/2006/main">
            <a:srgbClr val="D9EAF7"/>
          </a:solidFill>
          <a:ln xmlns:a="http://schemas.openxmlformats.org/drawingml/2006/main" w="9525">
            <a:solidFill>
              <a:srgbClr val="2F5597"/>
            </a:solidFill>
            <a:prstDash val="solid"/>
          </a:ln>
        </p:spPr>
      </p:sp>
      <p:sp>
        <p:nvSpPr>
          <p:cNvPr id="13" name="">
            <a:extLst xmlns:a="http://schemas.openxmlformats.org/drawingml/2006/main">
              <a:ext uri="{FF2B5EF4-FFF2-40B4-BE49-F238E27FC236}">
                <a16:creationId xmlns:a16="http://schemas.microsoft.com/office/drawing/2014/main" id="{9934DD87-79D2-4250-A8CE-81A58009A7E9}"/>
              </a:ext>
            </a:extLst>
          </p:cNvPr>
          <p:cNvSpPr>
            <a:spLocks xmlns:a="http://schemas.openxmlformats.org/drawingml/2006/main" noGrp="1"/>
          </p:cNvSpPr>
          <p:nvPr/>
        </p:nvSpPr>
        <p:spPr>
          <a:xfrm xmlns:a="http://schemas.openxmlformats.org/drawingml/2006/main">
            <a:off x="4933950" y="470535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F5597"/>
                </a:solidFill>
              </a:defRPr>
            </a:pPr>
            <a:r>
              <a:rPr sz="1350" b="1">
                <a:solidFill>
                  <a:srgbClr val="2F5597"/>
                </a:solidFill>
              </a:rPr>
              <a:t>F1 tăng</a:t>
            </a:r>
          </a:p>
        </p:txBody>
      </p:sp>
      <p:sp>
        <p:nvSpPr>
          <p:cNvPr id="14" name="">
            <a:extLst xmlns:a="http://schemas.openxmlformats.org/drawingml/2006/main">
              <a:ext uri="{FF2B5EF4-FFF2-40B4-BE49-F238E27FC236}">
                <a16:creationId xmlns:a16="http://schemas.microsoft.com/office/drawing/2014/main" id="{0CCDF37A-3E25-4935-8509-BAEB3CF57E01}"/>
              </a:ext>
            </a:extLst>
          </p:cNvPr>
          <p:cNvSpPr>
            <a:spLocks xmlns:a="http://schemas.openxmlformats.org/drawingml/2006/main" noGrp="1"/>
          </p:cNvSpPr>
          <p:nvPr/>
        </p:nvSpPr>
        <p:spPr>
          <a:xfrm xmlns:a="http://schemas.openxmlformats.org/drawingml/2006/main">
            <a:off x="4933950" y="5010150"/>
            <a:ext cx="2324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365D"/>
                </a:solidFill>
              </a:defRPr>
            </a:pPr>
            <a:r>
              <a:rPr sz="2550" b="1">
                <a:solidFill>
                  <a:srgbClr val="17365D"/>
                </a:solidFill>
              </a:rPr>
              <a:t>+0.0250</a:t>
            </a:r>
          </a:p>
        </p:txBody>
      </p:sp>
      <p:sp>
        <p:nvSpPr>
          <p:cNvPr id="15" name="">
            <a:extLst xmlns:a="http://schemas.openxmlformats.org/drawingml/2006/main">
              <a:ext uri="{FF2B5EF4-FFF2-40B4-BE49-F238E27FC236}">
                <a16:creationId xmlns:a16="http://schemas.microsoft.com/office/drawing/2014/main" id="{6DFE8736-DE88-4FE4-9684-FEFAE093576C}"/>
              </a:ext>
            </a:extLst>
          </p:cNvPr>
          <p:cNvSpPr>
            <a:spLocks xmlns:a="http://schemas.openxmlformats.org/drawingml/2006/main" noGrp="1"/>
          </p:cNvSpPr>
          <p:nvPr/>
        </p:nvSpPr>
        <p:spPr>
          <a:xfrm xmlns:a="http://schemas.openxmlformats.org/drawingml/2006/main">
            <a:off x="4933950" y="54864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334155"/>
                </a:solidFill>
              </a:defRPr>
            </a:pPr>
            <a:r>
              <a:rPr sz="1200" b="0">
                <a:solidFill>
                  <a:srgbClr val="334155"/>
                </a:solidFill>
              </a:rPr>
              <a:t>so với FedAvg</a:t>
            </a:r>
          </a:p>
        </p:txBody>
      </p:sp>
      <p:sp>
        <p:nvSpPr>
          <p:cNvPr id="16" name="">
            <a:extLst xmlns:a="http://schemas.openxmlformats.org/drawingml/2006/main">
              <a:ext uri="{FF2B5EF4-FFF2-40B4-BE49-F238E27FC236}">
                <a16:creationId xmlns:a16="http://schemas.microsoft.com/office/drawing/2014/main" id="{02564877-9865-4B89-A510-B950D68E36A5}"/>
              </a:ext>
            </a:extLst>
          </p:cNvPr>
          <p:cNvSpPr>
            <a:spLocks xmlns:a="http://schemas.openxmlformats.org/drawingml/2006/main" noGrp="1"/>
          </p:cNvSpPr>
          <p:nvPr/>
        </p:nvSpPr>
        <p:spPr>
          <a:xfrm xmlns:a="http://schemas.openxmlformats.org/drawingml/2006/main">
            <a:off x="8096250" y="4572000"/>
            <a:ext cx="2667000" cy="1314450"/>
          </a:xfrm>
          <a:prstGeom xmlns:a="http://schemas.openxmlformats.org/drawingml/2006/main" prst="roundRect">
            <a:avLst>
              <a:gd name="adj" fmla="val 8696"/>
            </a:avLst>
          </a:prstGeom>
          <a:solidFill xmlns:a="http://schemas.openxmlformats.org/drawingml/2006/main">
            <a:srgbClr val="FFF3D7"/>
          </a:solidFill>
          <a:ln xmlns:a="http://schemas.openxmlformats.org/drawingml/2006/main" w="9525">
            <a:solidFill>
              <a:srgbClr val="B45309"/>
            </a:solidFill>
            <a:prstDash val="solid"/>
          </a:ln>
        </p:spPr>
      </p:sp>
      <p:sp>
        <p:nvSpPr>
          <p:cNvPr id="17" name="">
            <a:extLst xmlns:a="http://schemas.openxmlformats.org/drawingml/2006/main">
              <a:ext uri="{FF2B5EF4-FFF2-40B4-BE49-F238E27FC236}">
                <a16:creationId xmlns:a16="http://schemas.microsoft.com/office/drawing/2014/main" id="{783CC017-D11B-448F-8B51-6DE93E0FE8AF}"/>
              </a:ext>
            </a:extLst>
          </p:cNvPr>
          <p:cNvSpPr>
            <a:spLocks xmlns:a="http://schemas.openxmlformats.org/drawingml/2006/main" noGrp="1"/>
          </p:cNvSpPr>
          <p:nvPr/>
        </p:nvSpPr>
        <p:spPr>
          <a:xfrm xmlns:a="http://schemas.openxmlformats.org/drawingml/2006/main">
            <a:off x="8267700" y="470535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45309"/>
                </a:solidFill>
              </a:defRPr>
            </a:pPr>
            <a:r>
              <a:rPr sz="1350" b="1">
                <a:solidFill>
                  <a:srgbClr val="B45309"/>
                </a:solidFill>
              </a:rPr>
              <a:t>Recall tăng</a:t>
            </a:r>
          </a:p>
        </p:txBody>
      </p:sp>
      <p:sp>
        <p:nvSpPr>
          <p:cNvPr id="18" name="">
            <a:extLst xmlns:a="http://schemas.openxmlformats.org/drawingml/2006/main">
              <a:ext uri="{FF2B5EF4-FFF2-40B4-BE49-F238E27FC236}">
                <a16:creationId xmlns:a16="http://schemas.microsoft.com/office/drawing/2014/main" id="{5CEAC1A0-4594-4F68-9DEE-1E21AB95EA9D}"/>
              </a:ext>
            </a:extLst>
          </p:cNvPr>
          <p:cNvSpPr>
            <a:spLocks xmlns:a="http://schemas.openxmlformats.org/drawingml/2006/main" noGrp="1"/>
          </p:cNvSpPr>
          <p:nvPr/>
        </p:nvSpPr>
        <p:spPr>
          <a:xfrm xmlns:a="http://schemas.openxmlformats.org/drawingml/2006/main">
            <a:off x="8267700" y="5010150"/>
            <a:ext cx="2324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365D"/>
                </a:solidFill>
              </a:defRPr>
            </a:pPr>
            <a:r>
              <a:rPr sz="2550" b="1">
                <a:solidFill>
                  <a:srgbClr val="17365D"/>
                </a:solidFill>
              </a:rPr>
              <a:t>+0.0472</a:t>
            </a:r>
          </a:p>
        </p:txBody>
      </p:sp>
      <p:sp>
        <p:nvSpPr>
          <p:cNvPr id="19" name="">
            <a:extLst xmlns:a="http://schemas.openxmlformats.org/drawingml/2006/main">
              <a:ext uri="{FF2B5EF4-FFF2-40B4-BE49-F238E27FC236}">
                <a16:creationId xmlns:a16="http://schemas.microsoft.com/office/drawing/2014/main" id="{7B0629AD-15C0-468A-8528-7C1ECE647C0E}"/>
              </a:ext>
            </a:extLst>
          </p:cNvPr>
          <p:cNvSpPr>
            <a:spLocks xmlns:a="http://schemas.openxmlformats.org/drawingml/2006/main" noGrp="1"/>
          </p:cNvSpPr>
          <p:nvPr/>
        </p:nvSpPr>
        <p:spPr>
          <a:xfrm xmlns:a="http://schemas.openxmlformats.org/drawingml/2006/main">
            <a:off x="8267700" y="54864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334155"/>
                </a:solidFill>
              </a:defRPr>
            </a:pPr>
            <a:r>
              <a:rPr sz="1200" b="0">
                <a:solidFill>
                  <a:srgbClr val="334155"/>
                </a:solidFill>
              </a:rPr>
              <a:t>so với FedAvg</a:t>
            </a:r>
          </a:p>
        </p:txBody>
      </p:sp>
    </p:spTree>
    <p:extLst>
      <p:ext uri="{BB962C8B-B14F-4D97-AF65-F5344CB8AC3E}">
        <p14:creationId xmlns:p14="http://schemas.microsoft.com/office/powerpoint/2010/main" val="1239056312"/>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0DC8E7-5884-40E3-964C-6FA4AC35679C}"/>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CB405736-A2B9-4E3F-BBCD-26133DE4CFF2}"/>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Chứng minh giảm catastrophic forgetting</a:t>
            </a:r>
          </a:p>
        </p:txBody>
      </p:sp>
      <p:sp>
        <p:nvSpPr>
          <p:cNvPr id="3" name="">
            <a:extLst xmlns:a="http://schemas.openxmlformats.org/drawingml/2006/main">
              <a:ext uri="{FF2B5EF4-FFF2-40B4-BE49-F238E27FC236}">
                <a16:creationId xmlns:a16="http://schemas.microsoft.com/office/drawing/2014/main" id="{C2353E2C-96A7-48F4-890A-CD1C8637EB16}"/>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6AF7FF3B-0CBD-4147-9E5A-041EAF47A1C9}"/>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A5485988-611C-468A-8FD9-9F8752752EC0}"/>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11/14</a:t>
            </a:r>
          </a:p>
        </p:txBody>
      </p:sp>
      <p:graphicFrame>
        <p:nvGraphicFramePr>
          <p:cNvPr id="16" name="Chart"/>
          <p:cNvGraphicFramePr/>
          <p:nvPr/>
        </p:nvGraphicFramePr>
        <p:xfrm>
          <a:off xmlns:a="http://schemas.openxmlformats.org/drawingml/2006/main" x="762000" y="1476375"/>
          <a:ext xmlns:a="http://schemas.openxmlformats.org/drawingml/2006/main" cx="4953000" cy="2857500"/>
        </p:xfrm>
        <a:graphic xmlns:a="http://schemas.openxmlformats.org/drawingml/2006/main">
          <a:graphicData uri="http://schemas.openxmlformats.org/drawingml/2006/chart">
            <c:chart xmlns:r="http://schemas.openxmlformats.org/officeDocument/2006/relationships" xmlns:c="http://schemas.openxmlformats.org/drawingml/2006/chart" r:id="Rc8833de13a1c4c58"/>
          </a:graphicData>
        </a:graphic>
      </p:graphicFrame>
      <p:graphicFrame>
        <p:nvGraphicFramePr>
          <p:cNvPr id="17" name="Chart"/>
          <p:cNvGraphicFramePr/>
          <p:nvPr/>
        </p:nvGraphicFramePr>
        <p:xfrm>
          <a:off xmlns:a="http://schemas.openxmlformats.org/drawingml/2006/main" x="6477000" y="1476375"/>
          <a:ext xmlns:a="http://schemas.openxmlformats.org/drawingml/2006/main" cx="4953000" cy="2857500"/>
        </p:xfrm>
        <a:graphic xmlns:a="http://schemas.openxmlformats.org/drawingml/2006/main">
          <a:graphicData uri="http://schemas.openxmlformats.org/drawingml/2006/chart">
            <c:chart xmlns:r="http://schemas.openxmlformats.org/officeDocument/2006/relationships" xmlns:c="http://schemas.openxmlformats.org/drawingml/2006/chart" r:id="R1d8db6d114324180"/>
          </a:graphicData>
        </a:graphic>
      </p:graphicFrame>
      <p:sp>
        <p:nvSpPr>
          <p:cNvPr id="8" name="">
            <a:extLst xmlns:a="http://schemas.openxmlformats.org/drawingml/2006/main">
              <a:ext uri="{FF2B5EF4-FFF2-40B4-BE49-F238E27FC236}">
                <a16:creationId xmlns:a16="http://schemas.microsoft.com/office/drawing/2014/main" id="{E08264BB-20FF-413A-92A7-899CD6BE4654}"/>
              </a:ext>
            </a:extLst>
          </p:cNvPr>
          <p:cNvSpPr>
            <a:spLocks xmlns:a="http://schemas.openxmlformats.org/drawingml/2006/main" noGrp="1"/>
          </p:cNvSpPr>
          <p:nvPr/>
        </p:nvSpPr>
        <p:spPr>
          <a:xfrm xmlns:a="http://schemas.openxmlformats.org/drawingml/2006/main">
            <a:off x="1143000" y="4762500"/>
            <a:ext cx="9906000" cy="1000125"/>
          </a:xfrm>
          <a:prstGeom xmlns:a="http://schemas.openxmlformats.org/drawingml/2006/main" prst="roundRect">
            <a:avLst>
              <a:gd name="adj" fmla="val 11429"/>
            </a:avLst>
          </a:prstGeom>
          <a:solidFill xmlns:a="http://schemas.openxmlformats.org/drawingml/2006/main">
            <a:srgbClr val="E7F4E8"/>
          </a:solidFill>
          <a:ln xmlns:a="http://schemas.openxmlformats.org/drawingml/2006/main" w="9525">
            <a:solidFill>
              <a:srgbClr val="2E7D3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59D40EC-A018-4D43-ACCA-FF9220854939}"/>
              </a:ext>
            </a:extLst>
          </p:cNvPr>
          <p:cNvSpPr>
            <a:spLocks xmlns:a="http://schemas.openxmlformats.org/drawingml/2006/main" noGrp="1"/>
          </p:cNvSpPr>
          <p:nvPr/>
        </p:nvSpPr>
        <p:spPr>
          <a:xfrm xmlns:a="http://schemas.openxmlformats.org/drawingml/2006/main">
            <a:off x="1352550" y="4933950"/>
            <a:ext cx="948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Kết luận phần forgetting</a:t>
            </a:r>
          </a:p>
        </p:txBody>
      </p:sp>
      <p:sp>
        <p:nvSpPr>
          <p:cNvPr id="10" name="">
            <a:extLst xmlns:a="http://schemas.openxmlformats.org/drawingml/2006/main">
              <a:ext uri="{FF2B5EF4-FFF2-40B4-BE49-F238E27FC236}">
                <a16:creationId xmlns:a16="http://schemas.microsoft.com/office/drawing/2014/main" id="{DCF5D065-D03A-4E38-831E-89D3721BEA26}"/>
              </a:ext>
            </a:extLst>
          </p:cNvPr>
          <p:cNvSpPr>
            <a:spLocks xmlns:a="http://schemas.openxmlformats.org/drawingml/2006/main" noGrp="1"/>
          </p:cNvSpPr>
          <p:nvPr/>
        </p:nvSpPr>
        <p:spPr>
          <a:xfrm xmlns:a="http://schemas.openxmlformats.org/drawingml/2006/main">
            <a:off x="1352550" y="5314950"/>
            <a:ext cx="94869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FL-CL-MalDrift giảm Forget từ 0.0407 xuống 0.0108, tức giảm khoảng 73.5% so với FedAvg. BWT của FL-CL gần 0 hơn, nghĩa là học task mới ít làm giảm hiệu năng trên task cũ hơn.</a:t>
            </a:r>
          </a:p>
        </p:txBody>
      </p:sp>
    </p:spTree>
    <p:extLst>
      <p:ext uri="{BB962C8B-B14F-4D97-AF65-F5344CB8AC3E}">
        <p14:creationId xmlns:p14="http://schemas.microsoft.com/office/powerpoint/2010/main" val="269707243"/>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D7F797-E20B-4A0D-A7EA-B5F4E3A72182}"/>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CA905209-E3E4-45D2-A2FD-FFCF54D94640}"/>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Vì sao FedAvg và FL-MalDrift gần nhau?</a:t>
            </a:r>
          </a:p>
        </p:txBody>
      </p:sp>
      <p:sp>
        <p:nvSpPr>
          <p:cNvPr id="3" name="">
            <a:extLst xmlns:a="http://schemas.openxmlformats.org/drawingml/2006/main">
              <a:ext uri="{FF2B5EF4-FFF2-40B4-BE49-F238E27FC236}">
                <a16:creationId xmlns:a16="http://schemas.microsoft.com/office/drawing/2014/main" id="{2B1E1057-90F5-4D90-9D24-DDD489F837D9}"/>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5A2FB56C-F0E4-492D-9C6D-52A5D8682781}"/>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AA758124-651F-4E52-8AC0-75564256163F}"/>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12/14</a:t>
            </a:r>
          </a:p>
        </p:txBody>
      </p:sp>
      <p:sp>
        <p:nvSpPr>
          <p:cNvPr id="6" name="">
            <a:extLst xmlns:a="http://schemas.openxmlformats.org/drawingml/2006/main">
              <a:ext uri="{FF2B5EF4-FFF2-40B4-BE49-F238E27FC236}">
                <a16:creationId xmlns:a16="http://schemas.microsoft.com/office/drawing/2014/main" id="{10B6A444-2722-4DCA-AAF9-4A5330B15A94}"/>
              </a:ext>
            </a:extLst>
          </p:cNvPr>
          <p:cNvSpPr>
            <a:spLocks xmlns:a="http://schemas.openxmlformats.org/drawingml/2006/main" noGrp="1"/>
          </p:cNvSpPr>
          <p:nvPr/>
        </p:nvSpPr>
        <p:spPr>
          <a:xfrm xmlns:a="http://schemas.openxmlformats.org/drawingml/2006/main">
            <a:off x="742950" y="1428750"/>
            <a:ext cx="4953000" cy="1285875"/>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0176CE45-5178-45D0-A24A-0E98037CD0B8}"/>
              </a:ext>
            </a:extLst>
          </p:cNvPr>
          <p:cNvSpPr>
            <a:spLocks xmlns:a="http://schemas.openxmlformats.org/drawingml/2006/main" noGrp="1"/>
          </p:cNvSpPr>
          <p:nvPr/>
        </p:nvSpPr>
        <p:spPr>
          <a:xfrm xmlns:a="http://schemas.openxmlformats.org/drawingml/2006/main">
            <a:off x="952500" y="1600200"/>
            <a:ext cx="453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1. FL-MalDrift chủ yếu đổi aggregation</a:t>
            </a:r>
          </a:p>
        </p:txBody>
      </p:sp>
      <p:sp>
        <p:nvSpPr>
          <p:cNvPr id="8" name="">
            <a:extLst xmlns:a="http://schemas.openxmlformats.org/drawingml/2006/main">
              <a:ext uri="{FF2B5EF4-FFF2-40B4-BE49-F238E27FC236}">
                <a16:creationId xmlns:a16="http://schemas.microsoft.com/office/drawing/2014/main" id="{D2D4838E-C8E3-4883-8709-9CF19FF166FB}"/>
              </a:ext>
            </a:extLst>
          </p:cNvPr>
          <p:cNvSpPr>
            <a:spLocks xmlns:a="http://schemas.openxmlformats.org/drawingml/2006/main" noGrp="1"/>
          </p:cNvSpPr>
          <p:nvPr/>
        </p:nvSpPr>
        <p:spPr>
          <a:xfrm xmlns:a="http://schemas.openxmlformats.org/drawingml/2006/main">
            <a:off x="952500" y="1981200"/>
            <a:ext cx="45339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FL-MalDrift lọc hoặc giảm trọng số client drift cao, nhưng chưa có Replay/EWC để giữ tri thức task cũ.</a:t>
            </a:r>
          </a:p>
        </p:txBody>
      </p:sp>
      <p:sp>
        <p:nvSpPr>
          <p:cNvPr id="9" name="">
            <a:extLst xmlns:a="http://schemas.openxmlformats.org/drawingml/2006/main">
              <a:ext uri="{FF2B5EF4-FFF2-40B4-BE49-F238E27FC236}">
                <a16:creationId xmlns:a16="http://schemas.microsoft.com/office/drawing/2014/main" id="{97538ABD-581D-492D-9536-BC95E6BE3092}"/>
              </a:ext>
            </a:extLst>
          </p:cNvPr>
          <p:cNvSpPr>
            <a:spLocks xmlns:a="http://schemas.openxmlformats.org/drawingml/2006/main" noGrp="1"/>
          </p:cNvSpPr>
          <p:nvPr/>
        </p:nvSpPr>
        <p:spPr>
          <a:xfrm xmlns:a="http://schemas.openxmlformats.org/drawingml/2006/main">
            <a:off x="6477000" y="1428750"/>
            <a:ext cx="4953000" cy="1285875"/>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22C0E74-6BF6-4AD6-8B09-F2697BA9D159}"/>
              </a:ext>
            </a:extLst>
          </p:cNvPr>
          <p:cNvSpPr>
            <a:spLocks xmlns:a="http://schemas.openxmlformats.org/drawingml/2006/main" noGrp="1"/>
          </p:cNvSpPr>
          <p:nvPr/>
        </p:nvSpPr>
        <p:spPr>
          <a:xfrm xmlns:a="http://schemas.openxmlformats.org/drawingml/2006/main">
            <a:off x="6686550" y="1600200"/>
            <a:ext cx="453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2. Drift score chưa đủ tách biệt</a:t>
            </a:r>
          </a:p>
        </p:txBody>
      </p:sp>
      <p:sp>
        <p:nvSpPr>
          <p:cNvPr id="11" name="">
            <a:extLst xmlns:a="http://schemas.openxmlformats.org/drawingml/2006/main">
              <a:ext uri="{FF2B5EF4-FFF2-40B4-BE49-F238E27FC236}">
                <a16:creationId xmlns:a16="http://schemas.microsoft.com/office/drawing/2014/main" id="{A5D039F9-E728-4091-9A59-AAA82506012A}"/>
              </a:ext>
            </a:extLst>
          </p:cNvPr>
          <p:cNvSpPr>
            <a:spLocks xmlns:a="http://schemas.openxmlformats.org/drawingml/2006/main" noGrp="1"/>
          </p:cNvSpPr>
          <p:nvPr/>
        </p:nvSpPr>
        <p:spPr>
          <a:xfrm xmlns:a="http://schemas.openxmlformats.org/drawingml/2006/main">
            <a:off x="6686550" y="1981200"/>
            <a:ext cx="45339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Khi drift giữa client không quá mạnh, trọng số sau drift-aware weighting gần giống FedAvg.</a:t>
            </a:r>
          </a:p>
        </p:txBody>
      </p:sp>
      <p:sp>
        <p:nvSpPr>
          <p:cNvPr id="12" name="">
            <a:extLst xmlns:a="http://schemas.openxmlformats.org/drawingml/2006/main">
              <a:ext uri="{FF2B5EF4-FFF2-40B4-BE49-F238E27FC236}">
                <a16:creationId xmlns:a16="http://schemas.microsoft.com/office/drawing/2014/main" id="{E028C81B-5F76-4AF0-B510-3D0344A73522}"/>
              </a:ext>
            </a:extLst>
          </p:cNvPr>
          <p:cNvSpPr>
            <a:spLocks xmlns:a="http://schemas.openxmlformats.org/drawingml/2006/main" noGrp="1"/>
          </p:cNvSpPr>
          <p:nvPr/>
        </p:nvSpPr>
        <p:spPr>
          <a:xfrm xmlns:a="http://schemas.openxmlformats.org/drawingml/2006/main">
            <a:off x="742950" y="3095625"/>
            <a:ext cx="4953000" cy="1285875"/>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DC0A49AE-3225-441E-A036-72262B7F3E78}"/>
              </a:ext>
            </a:extLst>
          </p:cNvPr>
          <p:cNvSpPr>
            <a:spLocks xmlns:a="http://schemas.openxmlformats.org/drawingml/2006/main" noGrp="1"/>
          </p:cNvSpPr>
          <p:nvPr/>
        </p:nvSpPr>
        <p:spPr>
          <a:xfrm xmlns:a="http://schemas.openxmlformats.org/drawingml/2006/main">
            <a:off x="952500" y="3267075"/>
            <a:ext cx="453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3. min_participation giữ nhiều client</a:t>
            </a:r>
          </a:p>
        </p:txBody>
      </p:sp>
      <p:sp>
        <p:nvSpPr>
          <p:cNvPr id="14" name="">
            <a:extLst xmlns:a="http://schemas.openxmlformats.org/drawingml/2006/main">
              <a:ext uri="{FF2B5EF4-FFF2-40B4-BE49-F238E27FC236}">
                <a16:creationId xmlns:a16="http://schemas.microsoft.com/office/drawing/2014/main" id="{B91960DC-310D-4D55-93CB-255D7125D2D1}"/>
              </a:ext>
            </a:extLst>
          </p:cNvPr>
          <p:cNvSpPr>
            <a:spLocks xmlns:a="http://schemas.openxmlformats.org/drawingml/2006/main" noGrp="1"/>
          </p:cNvSpPr>
          <p:nvPr/>
        </p:nvSpPr>
        <p:spPr>
          <a:xfrm xmlns:a="http://schemas.openxmlformats.org/drawingml/2006/main">
            <a:off x="952500" y="3648075"/>
            <a:ext cx="45339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Để tránh quá ít client tham gia, code vẫn giữ một lượng client tối thiểu, nên kết quả aggregation không khác quá xa.</a:t>
            </a:r>
          </a:p>
        </p:txBody>
      </p:sp>
      <p:sp>
        <p:nvSpPr>
          <p:cNvPr id="15" name="">
            <a:extLst xmlns:a="http://schemas.openxmlformats.org/drawingml/2006/main">
              <a:ext uri="{FF2B5EF4-FFF2-40B4-BE49-F238E27FC236}">
                <a16:creationId xmlns:a16="http://schemas.microsoft.com/office/drawing/2014/main" id="{6C905EAB-F945-44BB-98BB-294FBE36DE9B}"/>
              </a:ext>
            </a:extLst>
          </p:cNvPr>
          <p:cNvSpPr>
            <a:spLocks xmlns:a="http://schemas.openxmlformats.org/drawingml/2006/main" noGrp="1"/>
          </p:cNvSpPr>
          <p:nvPr/>
        </p:nvSpPr>
        <p:spPr>
          <a:xfrm xmlns:a="http://schemas.openxmlformats.org/drawingml/2006/main">
            <a:off x="6477000" y="3095625"/>
            <a:ext cx="4953000" cy="1285875"/>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3A7188BB-07DB-4228-9663-DD4B900DD3F0}"/>
              </a:ext>
            </a:extLst>
          </p:cNvPr>
          <p:cNvSpPr>
            <a:spLocks xmlns:a="http://schemas.openxmlformats.org/drawingml/2006/main" noGrp="1"/>
          </p:cNvSpPr>
          <p:nvPr/>
        </p:nvSpPr>
        <p:spPr>
          <a:xfrm xmlns:a="http://schemas.openxmlformats.org/drawingml/2006/main">
            <a:off x="6686550" y="3267075"/>
            <a:ext cx="453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4. Down-weight có thể bỏ bớt tín hiệu hữu ích</a:t>
            </a:r>
          </a:p>
        </p:txBody>
      </p:sp>
      <p:sp>
        <p:nvSpPr>
          <p:cNvPr id="17" name="">
            <a:extLst xmlns:a="http://schemas.openxmlformats.org/drawingml/2006/main">
              <a:ext uri="{FF2B5EF4-FFF2-40B4-BE49-F238E27FC236}">
                <a16:creationId xmlns:a16="http://schemas.microsoft.com/office/drawing/2014/main" id="{FB16542B-A57E-4650-9729-411779B9EFDF}"/>
              </a:ext>
            </a:extLst>
          </p:cNvPr>
          <p:cNvSpPr>
            <a:spLocks xmlns:a="http://schemas.openxmlformats.org/drawingml/2006/main" noGrp="1"/>
          </p:cNvSpPr>
          <p:nvPr/>
        </p:nvSpPr>
        <p:spPr>
          <a:xfrm xmlns:a="http://schemas.openxmlformats.org/drawingml/2006/main">
            <a:off x="6686550" y="3648075"/>
            <a:ext cx="45339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Nếu client drift cao nhưng chứa mẫu malware mới có ích, giảm trọng số quá mạnh có thể làm FL-MalDrift thích nghi chậm.</a:t>
            </a:r>
          </a:p>
        </p:txBody>
      </p:sp>
      <p:sp>
        <p:nvSpPr>
          <p:cNvPr id="18" name="">
            <a:extLst xmlns:a="http://schemas.openxmlformats.org/drawingml/2006/main">
              <a:ext uri="{FF2B5EF4-FFF2-40B4-BE49-F238E27FC236}">
                <a16:creationId xmlns:a16="http://schemas.microsoft.com/office/drawing/2014/main" id="{BC7AFDB4-2C87-446C-90D7-4DF8DD510C5B}"/>
              </a:ext>
            </a:extLst>
          </p:cNvPr>
          <p:cNvSpPr>
            <a:spLocks xmlns:a="http://schemas.openxmlformats.org/drawingml/2006/main" noGrp="1"/>
          </p:cNvSpPr>
          <p:nvPr/>
        </p:nvSpPr>
        <p:spPr>
          <a:xfrm xmlns:a="http://schemas.openxmlformats.org/drawingml/2006/main">
            <a:off x="1238250" y="5143500"/>
            <a:ext cx="971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7365D"/>
                </a:solidFill>
              </a:defRPr>
            </a:pPr>
            <a:r>
              <a:rPr sz="1800" b="1">
                <a:solidFill>
                  <a:srgbClr val="17365D"/>
                </a:solidFill>
              </a:rPr>
              <a:t>Vì vậy, lợi thế rõ nhất xuất hiện khi thêm continual learning: Replay + EWC + DRC.</a:t>
            </a:r>
          </a:p>
        </p:txBody>
      </p:sp>
    </p:spTree>
    <p:extLst>
      <p:ext uri="{BB962C8B-B14F-4D97-AF65-F5344CB8AC3E}">
        <p14:creationId xmlns:p14="http://schemas.microsoft.com/office/powerpoint/2010/main" val="969050559"/>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358A42-ADB6-4759-BC80-73138DD341F2}"/>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9581426E-6678-47BE-85ED-908687BAEB3A}"/>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Ảnh hưởng của cách chia dữ liệu</a:t>
            </a:r>
          </a:p>
        </p:txBody>
      </p:sp>
      <p:sp>
        <p:nvSpPr>
          <p:cNvPr id="3" name="">
            <a:extLst xmlns:a="http://schemas.openxmlformats.org/drawingml/2006/main">
              <a:ext uri="{FF2B5EF4-FFF2-40B4-BE49-F238E27FC236}">
                <a16:creationId xmlns:a16="http://schemas.microsoft.com/office/drawing/2014/main" id="{4F7E2D76-62CC-4ADF-8B23-265394F6F42E}"/>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050CB373-710F-4E71-BD70-DC5587587C41}"/>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DA3224DA-6193-467A-AF11-E203BCA7A3DA}"/>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13/14</a:t>
            </a:r>
          </a:p>
        </p:txBody>
      </p:sp>
      <p:graphicFrame>
        <p:nvGraphicFramePr>
          <p:cNvPr id="15" name=""/>
          <p:cNvGraphicFramePr/>
          <p:nvPr/>
        </p:nvGraphicFramePr>
        <p:xfrm>
          <a:off xmlns:a="http://schemas.openxmlformats.org/drawingml/2006/main" x="666750" y="1476375"/>
          <a:ext xmlns:a="http://schemas.openxmlformats.org/drawingml/2006/main" cx="10858500" cy="2714625"/>
        </p:xfrm>
        <a:graphic xmlns:a="http://schemas.openxmlformats.org/drawingml/2006/main">
          <a:graphicData uri="http://schemas.openxmlformats.org/drawingml/2006/table">
            <a:tbl>
              <a:tblPr/>
              <a:tblGrid>
                <a:gridCol w="2342029"/>
                <a:gridCol w="4045324"/>
                <a:gridCol w="4471147"/>
              </a:tblGrid>
              <a:tr h="542925">
                <a:tc>
                  <a:txBody>
                    <a:bodyPr/>
                    <a:lstStyle/>
                    <a:p>
                      <a:r>
                        <a:rPr sz="1200" b="1">
                          <a:solidFill>
                            <a:srgbClr val="FFFFFF"/>
                          </a:solidFill>
                        </a:rPr>
                        <a:t>Cách chia</a:t>
                      </a:r>
                    </a:p>
                  </a:txBody>
                  <a:tcPr marL="91440" marR="91440" marT="45720" marB="45720">
                    <a:solidFill>
                      <a:srgbClr val="17365D"/>
                    </a:solidFill>
                  </a:tcPr>
                </a:tc>
                <a:tc>
                  <a:txBody>
                    <a:bodyPr/>
                    <a:lstStyle/>
                    <a:p>
                      <a:r>
                        <a:rPr sz="1200" b="1">
                          <a:solidFill>
                            <a:srgbClr val="FFFFFF"/>
                          </a:solidFill>
                        </a:rPr>
                        <a:t>Hiện tượng quan sát được</a:t>
                      </a:r>
                    </a:p>
                  </a:txBody>
                  <a:tcPr marL="91440" marR="91440" marT="45720" marB="45720">
                    <a:solidFill>
                      <a:srgbClr val="17365D"/>
                    </a:solidFill>
                  </a:tcPr>
                </a:tc>
                <a:tc>
                  <a:txBody>
                    <a:bodyPr/>
                    <a:lstStyle/>
                    <a:p>
                      <a:r>
                        <a:rPr sz="1200" b="1">
                          <a:solidFill>
                            <a:srgbClr val="FFFFFF"/>
                          </a:solidFill>
                        </a:rPr>
                        <a:t>Ý nghĩa</a:t>
                      </a:r>
                    </a:p>
                  </a:txBody>
                  <a:tcPr marL="91440" marR="91440" marT="45720" marB="45720">
                    <a:solidFill>
                      <a:srgbClr val="17365D"/>
                    </a:solidFill>
                  </a:tcPr>
                </a:tc>
              </a:tr>
              <a:tr h="542925">
                <a:tc>
                  <a:txBody>
                    <a:bodyPr/>
                    <a:lstStyle/>
                    <a:p>
                      <a:r>
                        <a:rPr sz="1200">
                          <a:solidFill>
                            <a:srgbClr val="334155"/>
                          </a:solidFill>
                        </a:rPr>
                        <a:t>1:1</a:t>
                      </a:r>
                    </a:p>
                  </a:txBody>
                  <a:tcPr marL="91440" marR="91440" marT="45720" marB="45720">
                    <a:solidFill>
                      <a:srgbClr val="FFFFFF"/>
                    </a:solidFill>
                  </a:tcPr>
                </a:tc>
                <a:tc>
                  <a:txBody>
                    <a:bodyPr/>
                    <a:lstStyle/>
                    <a:p>
                      <a:r>
                        <a:rPr sz="1200">
                          <a:solidFill>
                            <a:srgbClr val="334155"/>
                          </a:solidFill>
                        </a:rPr>
                        <a:t>ACC/F1/Recall thấp hơn, Forget gần 0</a:t>
                      </a:r>
                    </a:p>
                  </a:txBody>
                  <a:tcPr marL="91440" marR="91440" marT="45720" marB="45720">
                    <a:solidFill>
                      <a:srgbClr val="FFFFFF"/>
                    </a:solidFill>
                  </a:tcPr>
                </a:tc>
                <a:tc>
                  <a:txBody>
                    <a:bodyPr/>
                    <a:lstStyle/>
                    <a:p>
                      <a:r>
                        <a:rPr sz="1200">
                          <a:solidFill>
                            <a:srgbClr val="334155"/>
                          </a:solidFill>
                        </a:rPr>
                        <a:t>Dữ liệu cân bằng nhưng ít malware hơn nên khó bật forgetting.</a:t>
                      </a:r>
                    </a:p>
                  </a:txBody>
                  <a:tcPr marL="91440" marR="91440" marT="45720" marB="45720">
                    <a:solidFill>
                      <a:srgbClr val="FFFFFF"/>
                    </a:solidFill>
                  </a:tcPr>
                </a:tc>
              </a:tr>
              <a:tr h="542925">
                <a:tc>
                  <a:txBody>
                    <a:bodyPr/>
                    <a:lstStyle/>
                    <a:p>
                      <a:r>
                        <a:rPr sz="1200">
                          <a:solidFill>
                            <a:srgbClr val="334155"/>
                          </a:solidFill>
                        </a:rPr>
                        <a:t>2:1 single-run</a:t>
                      </a:r>
                    </a:p>
                  </a:txBody>
                  <a:tcPr marL="91440" marR="91440" marT="45720" marB="45720">
                    <a:solidFill>
                      <a:srgbClr val="FFFFFF"/>
                    </a:solidFill>
                  </a:tcPr>
                </a:tc>
                <a:tc>
                  <a:txBody>
                    <a:bodyPr/>
                    <a:lstStyle/>
                    <a:p>
                      <a:r>
                        <a:rPr sz="1200">
                          <a:solidFill>
                            <a:srgbClr val="334155"/>
                          </a:solidFill>
                        </a:rPr>
                        <a:t>Recall và F1 tăng rõ</a:t>
                      </a:r>
                    </a:p>
                  </a:txBody>
                  <a:tcPr marL="91440" marR="91440" marT="45720" marB="45720">
                    <a:solidFill>
                      <a:srgbClr val="FFFFFF"/>
                    </a:solidFill>
                  </a:tcPr>
                </a:tc>
                <a:tc>
                  <a:txBody>
                    <a:bodyPr/>
                    <a:lstStyle/>
                    <a:p>
                      <a:r>
                        <a:rPr sz="1200">
                          <a:solidFill>
                            <a:srgbClr val="334155"/>
                          </a:solidFill>
                        </a:rPr>
                        <a:t>Model được học nhiều mẫu malware hơn.</a:t>
                      </a:r>
                    </a:p>
                  </a:txBody>
                  <a:tcPr marL="91440" marR="91440" marT="45720" marB="45720">
                    <a:solidFill>
                      <a:srgbClr val="FFFFFF"/>
                    </a:solidFill>
                  </a:tcPr>
                </a:tc>
              </a:tr>
              <a:tr h="542925">
                <a:tc>
                  <a:txBody>
                    <a:bodyPr/>
                    <a:lstStyle/>
                    <a:p>
                      <a:r>
                        <a:rPr sz="1200">
                          <a:solidFill>
                            <a:srgbClr val="334155"/>
                          </a:solidFill>
                        </a:rPr>
                        <a:t>dominant_ratio 0.75</a:t>
                      </a:r>
                    </a:p>
                  </a:txBody>
                  <a:tcPr marL="91440" marR="91440" marT="45720" marB="45720">
                    <a:solidFill>
                      <a:srgbClr val="FFFFFF"/>
                    </a:solidFill>
                  </a:tcPr>
                </a:tc>
                <a:tc>
                  <a:txBody>
                    <a:bodyPr/>
                    <a:lstStyle/>
                    <a:p>
                      <a:r>
                        <a:rPr sz="1200">
                          <a:solidFill>
                            <a:srgbClr val="334155"/>
                          </a:solidFill>
                        </a:rPr>
                        <a:t>Ba phương pháp khá gần nhau</a:t>
                      </a:r>
                    </a:p>
                  </a:txBody>
                  <a:tcPr marL="91440" marR="91440" marT="45720" marB="45720">
                    <a:solidFill>
                      <a:srgbClr val="FFFFFF"/>
                    </a:solidFill>
                  </a:tcPr>
                </a:tc>
                <a:tc>
                  <a:txBody>
                    <a:bodyPr/>
                    <a:lstStyle/>
                    <a:p>
                      <a:r>
                        <a:rPr sz="1200">
                          <a:solidFill>
                            <a:srgbClr val="334155"/>
                          </a:solidFill>
                        </a:rPr>
                        <a:t>Drift vừa phải, forgetting chưa đủ mạnh.</a:t>
                      </a:r>
                    </a:p>
                  </a:txBody>
                  <a:tcPr marL="91440" marR="91440" marT="45720" marB="45720">
                    <a:solidFill>
                      <a:srgbClr val="FFFFFF"/>
                    </a:solidFill>
                  </a:tcPr>
                </a:tc>
              </a:tr>
              <a:tr h="542925">
                <a:tc>
                  <a:txBody>
                    <a:bodyPr/>
                    <a:lstStyle/>
                    <a:p>
                      <a:r>
                        <a:rPr sz="1200" b="1">
                          <a:solidFill>
                            <a:srgbClr val="17365D"/>
                          </a:solidFill>
                        </a:rPr>
                        <a:t>dominant_ratio 0.90</a:t>
                      </a:r>
                    </a:p>
                  </a:txBody>
                  <a:tcPr marL="91440" marR="91440" marT="45720" marB="45720">
                    <a:solidFill>
                      <a:srgbClr val="E7F4E8"/>
                    </a:solidFill>
                  </a:tcPr>
                </a:tc>
                <a:tc>
                  <a:txBody>
                    <a:bodyPr/>
                    <a:lstStyle/>
                    <a:p>
                      <a:r>
                        <a:rPr sz="1200" b="1">
                          <a:solidFill>
                            <a:srgbClr val="17365D"/>
                          </a:solidFill>
                        </a:rPr>
                        <a:t>FL-CL nổi bật về Forget/BWT</a:t>
                      </a:r>
                    </a:p>
                  </a:txBody>
                  <a:tcPr marL="91440" marR="91440" marT="45720" marB="45720">
                    <a:solidFill>
                      <a:srgbClr val="E7F4E8"/>
                    </a:solidFill>
                  </a:tcPr>
                </a:tc>
                <a:tc>
                  <a:txBody>
                    <a:bodyPr/>
                    <a:lstStyle/>
                    <a:p>
                      <a:r>
                        <a:rPr sz="1200" b="1">
                          <a:solidFill>
                            <a:srgbClr val="17365D"/>
                          </a:solidFill>
                        </a:rPr>
                        <a:t>Drift rõ hơn, chống quên được kiểm chứng tốt hơn.</a:t>
                      </a:r>
                    </a:p>
                  </a:txBody>
                  <a:tcPr marL="91440" marR="91440" marT="45720" marB="45720">
                    <a:solidFill>
                      <a:srgbClr val="E7F4E8"/>
                    </a:solidFill>
                  </a:tcPr>
                </a:tc>
              </a:tr>
            </a:tbl>
          </a:graphicData>
        </a:graphic>
      </p:graphicFrame>
      <p:sp>
        <p:nvSpPr>
          <p:cNvPr id="7" name="">
            <a:extLst xmlns:a="http://schemas.openxmlformats.org/drawingml/2006/main">
              <a:ext uri="{FF2B5EF4-FFF2-40B4-BE49-F238E27FC236}">
                <a16:creationId xmlns:a16="http://schemas.microsoft.com/office/drawing/2014/main" id="{C337BD2F-F9DB-4448-8CFC-F852BC444D1B}"/>
              </a:ext>
            </a:extLst>
          </p:cNvPr>
          <p:cNvSpPr>
            <a:spLocks xmlns:a="http://schemas.openxmlformats.org/drawingml/2006/main" noGrp="1"/>
          </p:cNvSpPr>
          <p:nvPr/>
        </p:nvSpPr>
        <p:spPr>
          <a:xfrm xmlns:a="http://schemas.openxmlformats.org/drawingml/2006/main">
            <a:off x="1000125" y="4667250"/>
            <a:ext cx="10191750" cy="1047750"/>
          </a:xfrm>
          <a:prstGeom xmlns:a="http://schemas.openxmlformats.org/drawingml/2006/main" prst="roundRect">
            <a:avLst>
              <a:gd name="adj" fmla="val 10909"/>
            </a:avLst>
          </a:prstGeom>
          <a:solidFill xmlns:a="http://schemas.openxmlformats.org/drawingml/2006/main">
            <a:srgbClr val="FFF3D7"/>
          </a:solidFill>
          <a:ln xmlns:a="http://schemas.openxmlformats.org/drawingml/2006/main" w="9525">
            <a:solidFill>
              <a:srgbClr val="B4530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A1CFAA5-E6EF-4013-8D2E-53A8F5B01103}"/>
              </a:ext>
            </a:extLst>
          </p:cNvPr>
          <p:cNvSpPr>
            <a:spLocks xmlns:a="http://schemas.openxmlformats.org/drawingml/2006/main" noGrp="1"/>
          </p:cNvSpPr>
          <p:nvPr/>
        </p:nvSpPr>
        <p:spPr>
          <a:xfrm xmlns:a="http://schemas.openxmlformats.org/drawingml/2006/main">
            <a:off x="1209675" y="4838700"/>
            <a:ext cx="9772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Nhận xét quan trọng</a:t>
            </a:r>
          </a:p>
        </p:txBody>
      </p:sp>
      <p:sp>
        <p:nvSpPr>
          <p:cNvPr id="9" name="">
            <a:extLst xmlns:a="http://schemas.openxmlformats.org/drawingml/2006/main">
              <a:ext uri="{FF2B5EF4-FFF2-40B4-BE49-F238E27FC236}">
                <a16:creationId xmlns:a16="http://schemas.microsoft.com/office/drawing/2014/main" id="{91BCAD12-301D-4DF4-855F-3508814C5756}"/>
              </a:ext>
            </a:extLst>
          </p:cNvPr>
          <p:cNvSpPr>
            <a:spLocks xmlns:a="http://schemas.openxmlformats.org/drawingml/2006/main" noGrp="1"/>
          </p:cNvSpPr>
          <p:nvPr/>
        </p:nvSpPr>
        <p:spPr>
          <a:xfrm xmlns:a="http://schemas.openxmlformats.org/drawingml/2006/main">
            <a:off x="1209675" y="5219700"/>
            <a:ext cx="977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Kết quả không chỉ phụ thuộc thuật toán mà còn phụ thuộc cách tạo chuỗi task. Nếu task quá dễ hoặc quá giống nhau, forgetting khó thể hiện. Nếu task có một họ malware chiếm đa số nhưng vẫn giữ đủ các họ khác, thí nghiệm vừa hợp lý vừa làm rõ ưu điểm của FL-CL.</a:t>
            </a:r>
          </a:p>
        </p:txBody>
      </p:sp>
    </p:spTree>
    <p:extLst>
      <p:ext uri="{BB962C8B-B14F-4D97-AF65-F5344CB8AC3E}">
        <p14:creationId xmlns:p14="http://schemas.microsoft.com/office/powerpoint/2010/main" val="687903745"/>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17A96D-9E54-4654-804C-DED1D42BB6FE}"/>
              </a:ext>
            </a:extLst>
          </p:cNvPr>
          <p:cNvSpPr>
            <a:spLocks xmlns:a="http://schemas.openxmlformats.org/drawingml/2006/main" noGrp="1"/>
          </p:cNvSpPr>
          <p:nvPr/>
        </p:nvSpPr>
        <p:spPr>
          <a:xfrm xmlns:a="http://schemas.openxmlformats.org/drawingml/2006/main">
            <a:off x="609600" y="285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F5597"/>
                </a:solidFill>
              </a:defRPr>
            </a:pPr>
            <a:r>
              <a:rPr sz="1200" b="1">
                <a:solidFill>
                  <a:srgbClr val="2F5597"/>
                </a:solidFill>
              </a:rPr>
              <a:t>BÁO CÁO KẾT QUẢ</a:t>
            </a:r>
          </a:p>
        </p:txBody>
      </p:sp>
      <p:sp>
        <p:nvSpPr>
          <p:cNvPr id="2" name="">
            <a:extLst xmlns:a="http://schemas.openxmlformats.org/drawingml/2006/main">
              <a:ext uri="{FF2B5EF4-FFF2-40B4-BE49-F238E27FC236}">
                <a16:creationId xmlns:a16="http://schemas.microsoft.com/office/drawing/2014/main" id="{2698FD2A-2F9C-42E7-ACF2-20882B6CDB09}"/>
              </a:ext>
            </a:extLst>
          </p:cNvPr>
          <p:cNvSpPr>
            <a:spLocks xmlns:a="http://schemas.openxmlformats.org/drawingml/2006/main" noGrp="1"/>
          </p:cNvSpPr>
          <p:nvPr/>
        </p:nvSpPr>
        <p:spPr>
          <a:xfrm xmlns:a="http://schemas.openxmlformats.org/drawingml/2006/main">
            <a:off x="609600" y="55245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7365D"/>
                </a:solidFill>
              </a:defRPr>
            </a:pPr>
            <a:r>
              <a:rPr sz="2700" b="1">
                <a:solidFill>
                  <a:srgbClr val="17365D"/>
                </a:solidFill>
              </a:rPr>
              <a:t>Kết luận báo cáo trước thầy</a:t>
            </a:r>
          </a:p>
        </p:txBody>
      </p:sp>
      <p:sp>
        <p:nvSpPr>
          <p:cNvPr id="3" name="">
            <a:extLst xmlns:a="http://schemas.openxmlformats.org/drawingml/2006/main">
              <a:ext uri="{FF2B5EF4-FFF2-40B4-BE49-F238E27FC236}">
                <a16:creationId xmlns:a16="http://schemas.microsoft.com/office/drawing/2014/main" id="{8FD5E2BF-8975-4569-BBBC-2FADF327B02E}"/>
              </a:ext>
            </a:extLst>
          </p:cNvPr>
          <p:cNvSpPr>
            <a:spLocks xmlns:a="http://schemas.openxmlformats.org/drawingml/2006/main" noGrp="1"/>
          </p:cNvSpPr>
          <p:nvPr/>
        </p:nvSpPr>
        <p:spPr>
          <a:xfrm xmlns:a="http://schemas.openxmlformats.org/drawingml/2006/main">
            <a:off x="609600" y="1104900"/>
            <a:ext cx="10972800" cy="38100"/>
          </a:xfrm>
          <a:prstGeom xmlns:a="http://schemas.openxmlformats.org/drawingml/2006/main" prst="rect">
            <a:avLst/>
          </a:prstGeom>
          <a:solidFill xmlns:a="http://schemas.openxmlformats.org/drawingml/2006/main">
            <a:srgbClr val="2F5597"/>
          </a:solidFill>
          <a:ln xmlns:a="http://schemas.openxmlformats.org/drawingml/2006/main" w="0">
            <a:solidFill>
              <a:srgbClr val="2F5597"/>
            </a:solidFill>
            <a:prstDash val="solid"/>
          </a:ln>
        </p:spPr>
      </p:sp>
      <p:sp>
        <p:nvSpPr>
          <p:cNvPr id="4" name="">
            <a:extLst xmlns:a="http://schemas.openxmlformats.org/drawingml/2006/main">
              <a:ext uri="{FF2B5EF4-FFF2-40B4-BE49-F238E27FC236}">
                <a16:creationId xmlns:a16="http://schemas.microsoft.com/office/drawing/2014/main" id="{1E1956FE-EE2E-4F67-8EA0-13F95BD1A669}"/>
              </a:ext>
            </a:extLst>
          </p:cNvPr>
          <p:cNvSpPr>
            <a:spLocks xmlns:a="http://schemas.openxmlformats.org/drawingml/2006/main" noGrp="1"/>
          </p:cNvSpPr>
          <p:nvPr/>
        </p:nvSpPr>
        <p:spPr>
          <a:xfrm xmlns:a="http://schemas.openxmlformats.org/drawingml/2006/main">
            <a:off x="609600" y="6429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4748B"/>
                </a:solidFill>
              </a:defRPr>
            </a:pPr>
            <a:r>
              <a:rPr sz="1200" b="0">
                <a:solidFill>
                  <a:srgbClr val="64748B"/>
                </a:solidFill>
              </a:rPr>
              <a:t>FL-CL-MalDrift | CICMalDroid 2020</a:t>
            </a:r>
          </a:p>
        </p:txBody>
      </p:sp>
      <p:sp>
        <p:nvSpPr>
          <p:cNvPr id="5" name="">
            <a:extLst xmlns:a="http://schemas.openxmlformats.org/drawingml/2006/main">
              <a:ext uri="{FF2B5EF4-FFF2-40B4-BE49-F238E27FC236}">
                <a16:creationId xmlns:a16="http://schemas.microsoft.com/office/drawing/2014/main" id="{3E6AE0A3-311F-41FE-B7AD-4267120E0DDD}"/>
              </a:ext>
            </a:extLst>
          </p:cNvPr>
          <p:cNvSpPr>
            <a:spLocks xmlns:a="http://schemas.openxmlformats.org/drawingml/2006/main" noGrp="1"/>
          </p:cNvSpPr>
          <p:nvPr/>
        </p:nvSpPr>
        <p:spPr>
          <a:xfrm xmlns:a="http://schemas.openxmlformats.org/drawingml/2006/main">
            <a:off x="10715625" y="6429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0">
                <a:solidFill>
                  <a:srgbClr val="64748B"/>
                </a:solidFill>
              </a:defRPr>
            </a:pPr>
            <a:r>
              <a:rPr sz="1200" b="0">
                <a:solidFill>
                  <a:srgbClr val="64748B"/>
                </a:solidFill>
              </a:rPr>
              <a:t>14/14</a:t>
            </a:r>
          </a:p>
        </p:txBody>
      </p:sp>
      <p:sp>
        <p:nvSpPr>
          <p:cNvPr id="6" name="">
            <a:extLst xmlns:a="http://schemas.openxmlformats.org/drawingml/2006/main">
              <a:ext uri="{FF2B5EF4-FFF2-40B4-BE49-F238E27FC236}">
                <a16:creationId xmlns:a16="http://schemas.microsoft.com/office/drawing/2014/main" id="{40A4C4B8-5F84-4800-949A-57C1CC438781}"/>
              </a:ext>
            </a:extLst>
          </p:cNvPr>
          <p:cNvSpPr>
            <a:spLocks xmlns:a="http://schemas.openxmlformats.org/drawingml/2006/main" noGrp="1"/>
          </p:cNvSpPr>
          <p:nvPr/>
        </p:nvSpPr>
        <p:spPr>
          <a:xfrm xmlns:a="http://schemas.openxmlformats.org/drawingml/2006/main">
            <a:off x="838200" y="1476375"/>
            <a:ext cx="3238500" cy="1428750"/>
          </a:xfrm>
          <a:prstGeom xmlns:a="http://schemas.openxmlformats.org/drawingml/2006/main" prst="roundRect">
            <a:avLst>
              <a:gd name="adj" fmla="val 8000"/>
            </a:avLst>
          </a:prstGeom>
          <a:solidFill xmlns:a="http://schemas.openxmlformats.org/drawingml/2006/main">
            <a:srgbClr val="E7F4E8"/>
          </a:solidFill>
          <a:ln xmlns:a="http://schemas.openxmlformats.org/drawingml/2006/main" w="9525">
            <a:solidFill>
              <a:srgbClr val="2E7D32"/>
            </a:solidFill>
            <a:prstDash val="solid"/>
          </a:ln>
        </p:spPr>
      </p:sp>
      <p:sp>
        <p:nvSpPr>
          <p:cNvPr id="7" name="">
            <a:extLst xmlns:a="http://schemas.openxmlformats.org/drawingml/2006/main">
              <a:ext uri="{FF2B5EF4-FFF2-40B4-BE49-F238E27FC236}">
                <a16:creationId xmlns:a16="http://schemas.microsoft.com/office/drawing/2014/main" id="{241758E9-3306-4DF1-9A24-802016A9CABA}"/>
              </a:ext>
            </a:extLst>
          </p:cNvPr>
          <p:cNvSpPr>
            <a:spLocks xmlns:a="http://schemas.openxmlformats.org/drawingml/2006/main" noGrp="1"/>
          </p:cNvSpPr>
          <p:nvPr/>
        </p:nvSpPr>
        <p:spPr>
          <a:xfrm xmlns:a="http://schemas.openxmlformats.org/drawingml/2006/main">
            <a:off x="1009650" y="1609725"/>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E7D32"/>
                </a:solidFill>
              </a:defRPr>
            </a:pPr>
            <a:r>
              <a:rPr sz="1350" b="1">
                <a:solidFill>
                  <a:srgbClr val="2E7D32"/>
                </a:solidFill>
              </a:rPr>
              <a:t>Phát hiện malware</a:t>
            </a:r>
          </a:p>
        </p:txBody>
      </p:sp>
      <p:sp>
        <p:nvSpPr>
          <p:cNvPr id="8" name="">
            <a:extLst xmlns:a="http://schemas.openxmlformats.org/drawingml/2006/main">
              <a:ext uri="{FF2B5EF4-FFF2-40B4-BE49-F238E27FC236}">
                <a16:creationId xmlns:a16="http://schemas.microsoft.com/office/drawing/2014/main" id="{224608E7-2776-4074-A9BF-0C2318631155}"/>
              </a:ext>
            </a:extLst>
          </p:cNvPr>
          <p:cNvSpPr>
            <a:spLocks xmlns:a="http://schemas.openxmlformats.org/drawingml/2006/main" noGrp="1"/>
          </p:cNvSpPr>
          <p:nvPr/>
        </p:nvSpPr>
        <p:spPr>
          <a:xfrm xmlns:a="http://schemas.openxmlformats.org/drawingml/2006/main">
            <a:off x="1009650" y="1914525"/>
            <a:ext cx="2895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365D"/>
                </a:solidFill>
              </a:defRPr>
            </a:pPr>
            <a:r>
              <a:rPr sz="2550" b="1">
                <a:solidFill>
                  <a:srgbClr val="17365D"/>
                </a:solidFill>
              </a:rPr>
              <a:t>Tốt hơn</a:t>
            </a:r>
          </a:p>
        </p:txBody>
      </p:sp>
      <p:sp>
        <p:nvSpPr>
          <p:cNvPr id="9" name="">
            <a:extLst xmlns:a="http://schemas.openxmlformats.org/drawingml/2006/main">
              <a:ext uri="{FF2B5EF4-FFF2-40B4-BE49-F238E27FC236}">
                <a16:creationId xmlns:a16="http://schemas.microsoft.com/office/drawing/2014/main" id="{C82792BD-BD0E-462E-A6EA-6FFA82395719}"/>
              </a:ext>
            </a:extLst>
          </p:cNvPr>
          <p:cNvSpPr>
            <a:spLocks xmlns:a="http://schemas.openxmlformats.org/drawingml/2006/main" noGrp="1"/>
          </p:cNvSpPr>
          <p:nvPr/>
        </p:nvSpPr>
        <p:spPr>
          <a:xfrm xmlns:a="http://schemas.openxmlformats.org/drawingml/2006/main">
            <a:off x="1009650" y="2390775"/>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334155"/>
                </a:solidFill>
              </a:defRPr>
            </a:pPr>
            <a:r>
              <a:rPr sz="1200" b="0">
                <a:solidFill>
                  <a:srgbClr val="334155"/>
                </a:solidFill>
              </a:rPr>
              <a:t>ACC, F1, Recall cao nhất trong K-Fold chính.</a:t>
            </a:r>
          </a:p>
        </p:txBody>
      </p:sp>
      <p:sp>
        <p:nvSpPr>
          <p:cNvPr id="10" name="">
            <a:extLst xmlns:a="http://schemas.openxmlformats.org/drawingml/2006/main">
              <a:ext uri="{FF2B5EF4-FFF2-40B4-BE49-F238E27FC236}">
                <a16:creationId xmlns:a16="http://schemas.microsoft.com/office/drawing/2014/main" id="{4B87613D-69DB-4B59-805D-DFCFBD491884}"/>
              </a:ext>
            </a:extLst>
          </p:cNvPr>
          <p:cNvSpPr>
            <a:spLocks xmlns:a="http://schemas.openxmlformats.org/drawingml/2006/main" noGrp="1"/>
          </p:cNvSpPr>
          <p:nvPr/>
        </p:nvSpPr>
        <p:spPr>
          <a:xfrm xmlns:a="http://schemas.openxmlformats.org/drawingml/2006/main">
            <a:off x="4476750" y="1476375"/>
            <a:ext cx="3238500" cy="1428750"/>
          </a:xfrm>
          <a:prstGeom xmlns:a="http://schemas.openxmlformats.org/drawingml/2006/main" prst="roundRect">
            <a:avLst>
              <a:gd name="adj" fmla="val 8000"/>
            </a:avLst>
          </a:prstGeom>
          <a:solidFill xmlns:a="http://schemas.openxmlformats.org/drawingml/2006/main">
            <a:srgbClr val="D9EAF7"/>
          </a:solidFill>
          <a:ln xmlns:a="http://schemas.openxmlformats.org/drawingml/2006/main" w="9525">
            <a:solidFill>
              <a:srgbClr val="2F5597"/>
            </a:solidFill>
            <a:prstDash val="solid"/>
          </a:ln>
        </p:spPr>
      </p:sp>
      <p:sp>
        <p:nvSpPr>
          <p:cNvPr id="11" name="">
            <a:extLst xmlns:a="http://schemas.openxmlformats.org/drawingml/2006/main">
              <a:ext uri="{FF2B5EF4-FFF2-40B4-BE49-F238E27FC236}">
                <a16:creationId xmlns:a16="http://schemas.microsoft.com/office/drawing/2014/main" id="{2132269D-C1B7-45E1-AD40-CBBA9BF37C42}"/>
              </a:ext>
            </a:extLst>
          </p:cNvPr>
          <p:cNvSpPr>
            <a:spLocks xmlns:a="http://schemas.openxmlformats.org/drawingml/2006/main" noGrp="1"/>
          </p:cNvSpPr>
          <p:nvPr/>
        </p:nvSpPr>
        <p:spPr>
          <a:xfrm xmlns:a="http://schemas.openxmlformats.org/drawingml/2006/main">
            <a:off x="4648200" y="1609725"/>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F5597"/>
                </a:solidFill>
              </a:defRPr>
            </a:pPr>
            <a:r>
              <a:rPr sz="1350" b="1">
                <a:solidFill>
                  <a:srgbClr val="2F5597"/>
                </a:solidFill>
              </a:rPr>
              <a:t>Chống quên</a:t>
            </a:r>
          </a:p>
        </p:txBody>
      </p:sp>
      <p:sp>
        <p:nvSpPr>
          <p:cNvPr id="12" name="">
            <a:extLst xmlns:a="http://schemas.openxmlformats.org/drawingml/2006/main">
              <a:ext uri="{FF2B5EF4-FFF2-40B4-BE49-F238E27FC236}">
                <a16:creationId xmlns:a16="http://schemas.microsoft.com/office/drawing/2014/main" id="{41F4631F-70D6-47FB-81A7-75CC3A4138B9}"/>
              </a:ext>
            </a:extLst>
          </p:cNvPr>
          <p:cNvSpPr>
            <a:spLocks xmlns:a="http://schemas.openxmlformats.org/drawingml/2006/main" noGrp="1"/>
          </p:cNvSpPr>
          <p:nvPr/>
        </p:nvSpPr>
        <p:spPr>
          <a:xfrm xmlns:a="http://schemas.openxmlformats.org/drawingml/2006/main">
            <a:off x="4648200" y="1914525"/>
            <a:ext cx="2895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365D"/>
                </a:solidFill>
              </a:defRPr>
            </a:pPr>
            <a:r>
              <a:rPr sz="2550" b="1">
                <a:solidFill>
                  <a:srgbClr val="17365D"/>
                </a:solidFill>
              </a:rPr>
              <a:t>Rõ hơn</a:t>
            </a:r>
          </a:p>
        </p:txBody>
      </p:sp>
      <p:sp>
        <p:nvSpPr>
          <p:cNvPr id="13" name="">
            <a:extLst xmlns:a="http://schemas.openxmlformats.org/drawingml/2006/main">
              <a:ext uri="{FF2B5EF4-FFF2-40B4-BE49-F238E27FC236}">
                <a16:creationId xmlns:a16="http://schemas.microsoft.com/office/drawing/2014/main" id="{D9DFDD81-BFA4-4284-8D89-415069A7722B}"/>
              </a:ext>
            </a:extLst>
          </p:cNvPr>
          <p:cNvSpPr>
            <a:spLocks xmlns:a="http://schemas.openxmlformats.org/drawingml/2006/main" noGrp="1"/>
          </p:cNvSpPr>
          <p:nvPr/>
        </p:nvSpPr>
        <p:spPr>
          <a:xfrm xmlns:a="http://schemas.openxmlformats.org/drawingml/2006/main">
            <a:off x="4648200" y="2390775"/>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334155"/>
                </a:solidFill>
              </a:defRPr>
            </a:pPr>
            <a:r>
              <a:rPr sz="1200" b="0">
                <a:solidFill>
                  <a:srgbClr val="334155"/>
                </a:solidFill>
              </a:rPr>
              <a:t>Forget giảm khoảng 73.5% so với FedAvg.</a:t>
            </a:r>
          </a:p>
        </p:txBody>
      </p:sp>
      <p:sp>
        <p:nvSpPr>
          <p:cNvPr id="14" name="">
            <a:extLst xmlns:a="http://schemas.openxmlformats.org/drawingml/2006/main">
              <a:ext uri="{FF2B5EF4-FFF2-40B4-BE49-F238E27FC236}">
                <a16:creationId xmlns:a16="http://schemas.microsoft.com/office/drawing/2014/main" id="{9D465743-4FED-4EAB-931C-A8880CAC268A}"/>
              </a:ext>
            </a:extLst>
          </p:cNvPr>
          <p:cNvSpPr>
            <a:spLocks xmlns:a="http://schemas.openxmlformats.org/drawingml/2006/main" noGrp="1"/>
          </p:cNvSpPr>
          <p:nvPr/>
        </p:nvSpPr>
        <p:spPr>
          <a:xfrm xmlns:a="http://schemas.openxmlformats.org/drawingml/2006/main">
            <a:off x="8115300" y="1476375"/>
            <a:ext cx="3238500" cy="1428750"/>
          </a:xfrm>
          <a:prstGeom xmlns:a="http://schemas.openxmlformats.org/drawingml/2006/main" prst="roundRect">
            <a:avLst>
              <a:gd name="adj" fmla="val 8000"/>
            </a:avLst>
          </a:prstGeom>
          <a:solidFill xmlns:a="http://schemas.openxmlformats.org/drawingml/2006/main">
            <a:srgbClr val="FFF3D7"/>
          </a:solidFill>
          <a:ln xmlns:a="http://schemas.openxmlformats.org/drawingml/2006/main" w="9525">
            <a:solidFill>
              <a:srgbClr val="B45309"/>
            </a:solidFill>
            <a:prstDash val="solid"/>
          </a:ln>
        </p:spPr>
      </p:sp>
      <p:sp>
        <p:nvSpPr>
          <p:cNvPr id="15" name="">
            <a:extLst xmlns:a="http://schemas.openxmlformats.org/drawingml/2006/main">
              <a:ext uri="{FF2B5EF4-FFF2-40B4-BE49-F238E27FC236}">
                <a16:creationId xmlns:a16="http://schemas.microsoft.com/office/drawing/2014/main" id="{EE66869E-D3A4-42DC-82B2-99FC82E03508}"/>
              </a:ext>
            </a:extLst>
          </p:cNvPr>
          <p:cNvSpPr>
            <a:spLocks xmlns:a="http://schemas.openxmlformats.org/drawingml/2006/main" noGrp="1"/>
          </p:cNvSpPr>
          <p:nvPr/>
        </p:nvSpPr>
        <p:spPr>
          <a:xfrm xmlns:a="http://schemas.openxmlformats.org/drawingml/2006/main">
            <a:off x="8286750" y="1609725"/>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B45309"/>
                </a:solidFill>
              </a:defRPr>
            </a:pPr>
            <a:r>
              <a:rPr sz="1350" b="1">
                <a:solidFill>
                  <a:srgbClr val="B45309"/>
                </a:solidFill>
              </a:rPr>
              <a:t>Drift loop</a:t>
            </a:r>
          </a:p>
        </p:txBody>
      </p:sp>
      <p:sp>
        <p:nvSpPr>
          <p:cNvPr id="16" name="">
            <a:extLst xmlns:a="http://schemas.openxmlformats.org/drawingml/2006/main">
              <a:ext uri="{FF2B5EF4-FFF2-40B4-BE49-F238E27FC236}">
                <a16:creationId xmlns:a16="http://schemas.microsoft.com/office/drawing/2014/main" id="{315F5183-687C-48C7-BC8C-967F3FB838CE}"/>
              </a:ext>
            </a:extLst>
          </p:cNvPr>
          <p:cNvSpPr>
            <a:spLocks xmlns:a="http://schemas.openxmlformats.org/drawingml/2006/main" noGrp="1"/>
          </p:cNvSpPr>
          <p:nvPr/>
        </p:nvSpPr>
        <p:spPr>
          <a:xfrm xmlns:a="http://schemas.openxmlformats.org/drawingml/2006/main">
            <a:off x="8286750" y="1914525"/>
            <a:ext cx="2895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365D"/>
                </a:solidFill>
              </a:defRPr>
            </a:pPr>
            <a:r>
              <a:rPr sz="2550" b="1">
                <a:solidFill>
                  <a:srgbClr val="17365D"/>
                </a:solidFill>
              </a:rPr>
              <a:t>Có cơ chế</a:t>
            </a:r>
          </a:p>
        </p:txBody>
      </p:sp>
      <p:sp>
        <p:nvSpPr>
          <p:cNvPr id="17" name="">
            <a:extLst xmlns:a="http://schemas.openxmlformats.org/drawingml/2006/main">
              <a:ext uri="{FF2B5EF4-FFF2-40B4-BE49-F238E27FC236}">
                <a16:creationId xmlns:a16="http://schemas.microsoft.com/office/drawing/2014/main" id="{AA665774-CB51-4BB6-BF3B-D544EBF83016}"/>
              </a:ext>
            </a:extLst>
          </p:cNvPr>
          <p:cNvSpPr>
            <a:spLocks xmlns:a="http://schemas.openxmlformats.org/drawingml/2006/main" noGrp="1"/>
          </p:cNvSpPr>
          <p:nvPr/>
        </p:nvSpPr>
        <p:spPr>
          <a:xfrm xmlns:a="http://schemas.openxmlformats.org/drawingml/2006/main">
            <a:off x="8286750" y="2390775"/>
            <a:ext cx="2895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334155"/>
                </a:solidFill>
              </a:defRPr>
            </a:pPr>
            <a:r>
              <a:rPr sz="1200" b="0">
                <a:solidFill>
                  <a:srgbClr val="334155"/>
                </a:solidFill>
              </a:rPr>
              <a:t>DRC + Recovery Monitor cho client hồi phục khi ổn định.</a:t>
            </a:r>
          </a:p>
        </p:txBody>
      </p:sp>
      <p:sp>
        <p:nvSpPr>
          <p:cNvPr id="18" name="">
            <a:extLst xmlns:a="http://schemas.openxmlformats.org/drawingml/2006/main">
              <a:ext uri="{FF2B5EF4-FFF2-40B4-BE49-F238E27FC236}">
                <a16:creationId xmlns:a16="http://schemas.microsoft.com/office/drawing/2014/main" id="{1F3C8BC4-ABB3-4422-A0B2-B926F7F21D89}"/>
              </a:ext>
            </a:extLst>
          </p:cNvPr>
          <p:cNvSpPr>
            <a:spLocks xmlns:a="http://schemas.openxmlformats.org/drawingml/2006/main" noGrp="1"/>
          </p:cNvSpPr>
          <p:nvPr/>
        </p:nvSpPr>
        <p:spPr>
          <a:xfrm xmlns:a="http://schemas.openxmlformats.org/drawingml/2006/main">
            <a:off x="1190625" y="3476625"/>
            <a:ext cx="9810750" cy="13335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CBD5E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8DA92AA5-5A47-4594-885C-41AB5C2E6E5C}"/>
              </a:ext>
            </a:extLst>
          </p:cNvPr>
          <p:cNvSpPr>
            <a:spLocks xmlns:a="http://schemas.openxmlformats.org/drawingml/2006/main" noGrp="1"/>
          </p:cNvSpPr>
          <p:nvPr/>
        </p:nvSpPr>
        <p:spPr>
          <a:xfrm xmlns:a="http://schemas.openxmlformats.org/drawingml/2006/main">
            <a:off x="1400175" y="3648075"/>
            <a:ext cx="9391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365D"/>
                </a:solidFill>
              </a:defRPr>
            </a:pPr>
            <a:r>
              <a:rPr sz="1650" b="1">
                <a:solidFill>
                  <a:srgbClr val="17365D"/>
                </a:solidFill>
              </a:rPr>
              <a:t>Câu kết khi trình bày</a:t>
            </a:r>
          </a:p>
        </p:txBody>
      </p:sp>
      <p:sp>
        <p:nvSpPr>
          <p:cNvPr id="20" name="">
            <a:extLst xmlns:a="http://schemas.openxmlformats.org/drawingml/2006/main">
              <a:ext uri="{FF2B5EF4-FFF2-40B4-BE49-F238E27FC236}">
                <a16:creationId xmlns:a16="http://schemas.microsoft.com/office/drawing/2014/main" id="{12D32990-6720-46B7-A387-0173177DEEE8}"/>
              </a:ext>
            </a:extLst>
          </p:cNvPr>
          <p:cNvSpPr>
            <a:spLocks xmlns:a="http://schemas.openxmlformats.org/drawingml/2006/main" noGrp="1"/>
          </p:cNvSpPr>
          <p:nvPr/>
        </p:nvSpPr>
        <p:spPr>
          <a:xfrm xmlns:a="http://schemas.openxmlformats.org/drawingml/2006/main">
            <a:off x="1400175" y="4029075"/>
            <a:ext cx="9391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334155"/>
                </a:solidFill>
              </a:defRPr>
            </a:pPr>
            <a:r>
              <a:rPr sz="1350" b="0">
                <a:solidFill>
                  <a:srgbClr val="334155"/>
                </a:solidFill>
              </a:rPr>
              <a:t>Đề tài đã mở rộng FL-MalDrift từ một phương pháp drift-aware aggregation thành một pipeline federated continual learning. Kết quả thực nghiệm cho thấy FL-CL-MalDrift không chỉ cải thiện độ chính xác phát hiện malware mới mà còn giảm rõ catastrophic forgetting trên chuỗi task có drift.</a:t>
            </a:r>
          </a:p>
        </p:txBody>
      </p:sp>
      <p:sp>
        <p:nvSpPr>
          <p:cNvPr id="21" name="">
            <a:extLst xmlns:a="http://schemas.openxmlformats.org/drawingml/2006/main">
              <a:ext uri="{FF2B5EF4-FFF2-40B4-BE49-F238E27FC236}">
                <a16:creationId xmlns:a16="http://schemas.microsoft.com/office/drawing/2014/main" id="{76E2BB4B-481A-4EBD-99AC-409AFFEA4757}"/>
              </a:ext>
            </a:extLst>
          </p:cNvPr>
          <p:cNvSpPr>
            <a:spLocks xmlns:a="http://schemas.openxmlformats.org/drawingml/2006/main" noGrp="1"/>
          </p:cNvSpPr>
          <p:nvPr/>
        </p:nvSpPr>
        <p:spPr>
          <a:xfrm xmlns:a="http://schemas.openxmlformats.org/drawingml/2006/main">
            <a:off x="1857375" y="5334000"/>
            <a:ext cx="847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7365D"/>
                </a:solidFill>
              </a:defRPr>
            </a:pPr>
            <a:r>
              <a:rPr sz="2550" b="1">
                <a:solidFill>
                  <a:srgbClr val="17365D"/>
                </a:solidFill>
              </a:rPr>
              <a:t>Xin cảm ơn thầy đã lắng nghe.</a:t>
            </a:r>
          </a:p>
        </p:txBody>
      </p:sp>
    </p:spTree>
    <p:extLst>
      <p:ext uri="{BB962C8B-B14F-4D97-AF65-F5344CB8AC3E}">
        <p14:creationId xmlns:p14="http://schemas.microsoft.com/office/powerpoint/2010/main" val="84950571"/>
      </p:ext>
    </p:extLst>
  </p:cSld>
</p:sld>
</file>

<file path=ppt/theme/theme1.xml><?xml version="1.0" encoding="utf-8"?>
<a:theme xmlns:a="http://schemas.openxmlformats.org/drawingml/2006/main" name="ChatGPT">
  <a:themeElements>
    <a:clrScheme name="FL CL MalDrift">
      <a:dk1>
        <a:srgbClr val="17365D"/>
      </a:dk1>
      <a:lt1>
        <a:srgbClr val="FFFFFF"/>
      </a:lt1>
      <a:dk2>
        <a:srgbClr val="334155"/>
      </a:dk2>
      <a:lt2>
        <a:srgbClr val="F8FAFC"/>
      </a:lt2>
      <a:accent1>
        <a:srgbClr val="2F5597"/>
      </a:accent1>
      <a:accent2>
        <a:srgbClr val="2E7D32"/>
      </a:accent2>
      <a:accent3>
        <a:srgbClr val="B45309"/>
      </a:accent3>
      <a:accent4>
        <a:srgbClr val="5B2C83"/>
      </a:accent4>
      <a:accent5>
        <a:srgbClr val="B91C1C"/>
      </a:accent5>
      <a:accent6>
        <a:srgbClr val="64748B"/>
      </a:accent6>
      <a:hlink>
        <a:srgbClr val="2F5597"/>
      </a:hlink>
      <a:folHlink>
        <a:srgbClr val="5B2C83"/>
      </a:folHlink>
    </a:clrScheme>
    <a:fontScheme name="Office">
      <a:majorFont>
        <a:latin typeface="Calibri Light"/>
        <a:ea typeface="Calibri Light"/>
        <a:cs typeface="Calibri Light"/>
      </a:majorFont>
      <a:minorFont>
        <a:latin typeface="Calibri"/>
        <a:ea typeface="Calibri"/>
        <a:cs typeface="Calibri"/>
      </a:minorFont>
    </a:fontScheme>
    <a:fmtScheme name="FL CL MalDrif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2026-06-28T06:15:08.5470000Z</dcterms:created>
  <dcterms:modified xsi:type="dcterms:W3CDTF">2026-06-28T06:15:08.5480000Z</dcterms:modified>
</coreProperties>
</file>